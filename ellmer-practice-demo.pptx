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ellmer-practice is a Shiny app that turns plain-English questions into real R analysis. Two pages: Explore for SQL and charts, Model for fits and tests. Everything you'll see was produced live in the browser against ggplot2's midwest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design choice that makes it a teaching tool rather than a toy. Because the model works from a profile, it has to reason about roles and ranges instead of pattern-matching rows it has memorised.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model answers without firing the tool, you say 'update the dashboard' and it re-runs properly. That happened once in this demo — slide 6's first question was answered from a query without redrawing.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midwest is a good stress test because it is wide and almost entirely numeric — 28 columns, most of them percentages, with only county, state and category as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first question in the transcript above — it answered from a query without redrawing. Saying 'update the dashboard' made it fire set_dashboard.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R/plot-recipe.R holds one object that both the renderer and the code pane consume. There is no second code path that could fall out of sync.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Sticky style is what makes the second and third questions cheap — you are refining one view rather than starting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chat loop, different tool. set_model instead of set_dashboard.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teaching moment: a model can have interpretable, significant coefficients and still have almost no predictive lift. The baseline is what surfaces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lift is real: 0.937 against a 0.659 majority-class baseline, and cross-validation agrees with the holdout to three decimals.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pointing out in the demo: it fit the tree on the same three predictors without being told to, because the previous turn set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lone point at far left on PC1 is Cook County — population 5 million against a median of about 25,000.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Notes line in the metrics pane is generated by R, not by the model — it cannot be talked out of the caveat.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the file list is that the interesting logic is in R. The model is doing intent parsing and explanation, not statistics.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the chat layer is swappable and so is the data source. Point the same QueryChat wrapper at Postgres or a Parquet file and nothing on the chat side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83C"/>
        </a:solidFill>
      </p:bgPr>
    </p:bg>
    <p:spTree>
      <p:nvGrpSpPr>
        <p:cNvPr id="1" name=""/>
        <p:cNvGrpSpPr/>
        <p:nvPr/>
      </p:nvGrpSpPr>
      <p:grpSpPr>
        <a:xfrm>
          <a:off x="0" y="0"/>
          <a:ext cx="0" cy="0"/>
          <a:chOff x="0" y="0"/>
          <a:chExt cx="0" cy="0"/>
        </a:xfrm>
      </p:grpSpPr>
      <p:pic>
        <p:nvPicPr>
          <p:cNvPr id="2" name="Image 0" descr="/home/claude/deck/img/shot1.jpg">    </p:cNvPr>
          <p:cNvPicPr>
            <a:picLocks noChangeAspect="1"/>
          </p:cNvPicPr>
          <p:nvPr/>
        </p:nvPicPr>
        <p:blipFill>
          <a:blip r:embed="rId1"/>
          <a:stretch>
            <a:fillRect/>
          </a:stretch>
        </p:blipFill>
        <p:spPr>
          <a:xfrm>
            <a:off x="5806440" y="1207008"/>
            <a:ext cx="5943600" cy="4197096"/>
          </a:xfrm>
          <a:prstGeom prst="rect">
            <a:avLst/>
          </a:prstGeom>
          <a:effectLst>
            <a:outerShdw sx="100000" sy="100000" kx="0" ky="0" algn="bl" rotWithShape="0" blurRad="177800" dist="38100" dir="5400000">
              <a:srgbClr val="000000">
                <a:alpha val="20000"/>
              </a:srgbClr>
            </a:outerShdw>
          </a:effectLst>
        </p:spPr>
      </p:pic>
      <p:sp>
        <p:nvSpPr>
          <p:cNvPr id="3" name="Shape 0"/>
          <p:cNvSpPr/>
          <p:nvPr/>
        </p:nvSpPr>
        <p:spPr>
          <a:xfrm>
            <a:off x="640080" y="1170432"/>
            <a:ext cx="1737360" cy="292608"/>
          </a:xfrm>
          <a:prstGeom prst="roundRect">
            <a:avLst>
              <a:gd name="adj" fmla="val 18750"/>
            </a:avLst>
          </a:prstGeom>
          <a:solidFill>
            <a:srgbClr val="27405C"/>
          </a:solidFill>
          <a:ln w="12700">
            <a:solidFill>
              <a:srgbClr val="27405C"/>
            </a:solidFill>
            <a:prstDash val="solid"/>
          </a:ln>
        </p:spPr>
      </p:sp>
      <p:sp>
        <p:nvSpPr>
          <p:cNvPr id="4" name="Text 1"/>
          <p:cNvSpPr/>
          <p:nvPr/>
        </p:nvSpPr>
        <p:spPr>
          <a:xfrm>
            <a:off x="640080" y="1170432"/>
            <a:ext cx="1737360" cy="292608"/>
          </a:xfrm>
          <a:prstGeom prst="rect">
            <a:avLst/>
          </a:prstGeom>
          <a:noFill/>
          <a:ln/>
        </p:spPr>
        <p:txBody>
          <a:bodyPr wrap="square" lIns="0" tIns="0" rIns="0" bIns="0" rtlCol="0" anchor="ctr"/>
          <a:lstStyle/>
          <a:p>
            <a:pPr algn="ctr" indent="0" marL="0">
              <a:buNone/>
            </a:pPr>
            <a:r>
              <a:rPr lang="en-US" sz="1000" b="1" spc="100" kern="0" dirty="0">
                <a:solidFill>
                  <a:srgbClr val="E69F00"/>
                </a:solidFill>
                <a:latin typeface="Courier New" pitchFamily="34" charset="0"/>
                <a:ea typeface="Courier New" pitchFamily="34" charset="-122"/>
                <a:cs typeface="Courier New" pitchFamily="34" charset="-120"/>
              </a:rPr>
              <a:t>SHINY · ELLMER</a:t>
            </a:r>
            <a:endParaRPr lang="en-US" sz="1000" dirty="0"/>
          </a:p>
        </p:txBody>
      </p:sp>
      <p:sp>
        <p:nvSpPr>
          <p:cNvPr id="5" name="Shape 2"/>
          <p:cNvSpPr/>
          <p:nvPr/>
        </p:nvSpPr>
        <p:spPr>
          <a:xfrm>
            <a:off x="2487168" y="1170432"/>
            <a:ext cx="1600200" cy="292608"/>
          </a:xfrm>
          <a:prstGeom prst="roundRect">
            <a:avLst>
              <a:gd name="adj" fmla="val 18750"/>
            </a:avLst>
          </a:prstGeom>
          <a:solidFill>
            <a:srgbClr val="27405C"/>
          </a:solidFill>
          <a:ln w="12700">
            <a:solidFill>
              <a:srgbClr val="27405C"/>
            </a:solidFill>
            <a:prstDash val="solid"/>
          </a:ln>
        </p:spPr>
      </p:sp>
      <p:sp>
        <p:nvSpPr>
          <p:cNvPr id="6" name="Text 3"/>
          <p:cNvSpPr/>
          <p:nvPr/>
        </p:nvSpPr>
        <p:spPr>
          <a:xfrm>
            <a:off x="2487168" y="1170432"/>
            <a:ext cx="1600200" cy="292608"/>
          </a:xfrm>
          <a:prstGeom prst="rect">
            <a:avLst/>
          </a:prstGeom>
          <a:noFill/>
          <a:ln/>
        </p:spPr>
        <p:txBody>
          <a:bodyPr wrap="square" lIns="0" tIns="0" rIns="0" bIns="0" rtlCol="0" anchor="ctr"/>
          <a:lstStyle/>
          <a:p>
            <a:pPr algn="ctr" indent="0" marL="0">
              <a:buNone/>
            </a:pPr>
            <a:r>
              <a:rPr lang="en-US" sz="1000" b="1" spc="100" kern="0" dirty="0">
                <a:solidFill>
                  <a:srgbClr val="E69F00"/>
                </a:solidFill>
                <a:latin typeface="Courier New" pitchFamily="34" charset="0"/>
                <a:ea typeface="Courier New" pitchFamily="34" charset="-122"/>
                <a:cs typeface="Courier New" pitchFamily="34" charset="-120"/>
              </a:rPr>
              <a:t>TIDYMODELS</a:t>
            </a:r>
            <a:endParaRPr lang="en-US" sz="1000" dirty="0"/>
          </a:p>
        </p:txBody>
      </p:sp>
      <p:sp>
        <p:nvSpPr>
          <p:cNvPr id="7" name="Text 4"/>
          <p:cNvSpPr/>
          <p:nvPr/>
        </p:nvSpPr>
        <p:spPr>
          <a:xfrm>
            <a:off x="640080" y="1691640"/>
            <a:ext cx="5029200" cy="1737360"/>
          </a:xfrm>
          <a:prstGeom prst="rect">
            <a:avLst/>
          </a:prstGeom>
          <a:noFill/>
          <a:ln/>
        </p:spPr>
        <p:txBody>
          <a:bodyPr wrap="square" lIns="0" tIns="0" rIns="0" bIns="0" rtlCol="0" anchor="ctr"/>
          <a:lstStyle/>
          <a:p>
            <a:pPr indent="0" marL="0">
              <a:lnSpc>
                <a:spcPts val="4400"/>
              </a:lnSpc>
              <a:buNone/>
            </a:pPr>
            <a:r>
              <a:rPr lang="en-US" sz="4000" b="1" dirty="0">
                <a:solidFill>
                  <a:srgbClr val="FFFFFF"/>
                </a:solidFill>
                <a:latin typeface="Cambria" pitchFamily="34" charset="0"/>
                <a:ea typeface="Cambria" pitchFamily="34" charset="-122"/>
                <a:cs typeface="Cambria" pitchFamily="34" charset="-120"/>
              </a:rPr>
              <a:t>Ask in English.</a:t>
            </a:r>
            <a:endParaRPr lang="en-US" sz="4000" dirty="0"/>
          </a:p>
          <a:p>
            <a:pPr indent="0" marL="0">
              <a:lnSpc>
                <a:spcPts val="4400"/>
              </a:lnSpc>
              <a:buNone/>
            </a:pPr>
            <a:r>
              <a:rPr lang="en-US" sz="4000" b="1" dirty="0">
                <a:solidFill>
                  <a:srgbClr val="FFFFFF"/>
                </a:solidFill>
                <a:latin typeface="Cambria" pitchFamily="34" charset="0"/>
                <a:ea typeface="Cambria" pitchFamily="34" charset="-122"/>
                <a:cs typeface="Cambria" pitchFamily="34" charset="-120"/>
              </a:rPr>
              <a:t>R does the statistics.</a:t>
            </a:r>
            <a:endParaRPr lang="en-US" sz="4000" dirty="0"/>
          </a:p>
        </p:txBody>
      </p:sp>
      <p:sp>
        <p:nvSpPr>
          <p:cNvPr id="8" name="Text 5"/>
          <p:cNvSpPr/>
          <p:nvPr/>
        </p:nvSpPr>
        <p:spPr>
          <a:xfrm>
            <a:off x="658368" y="3520440"/>
            <a:ext cx="4937760" cy="822960"/>
          </a:xfrm>
          <a:prstGeom prst="rect">
            <a:avLst/>
          </a:prstGeom>
          <a:noFill/>
          <a:ln/>
        </p:spPr>
        <p:txBody>
          <a:bodyPr wrap="square" lIns="0" tIns="0" rIns="0" bIns="0" rtlCol="0" anchor="t"/>
          <a:lstStyle/>
          <a:p>
            <a:pPr indent="0" marL="0">
              <a:buNone/>
            </a:pPr>
            <a:r>
              <a:rPr lang="en-US" sz="1400" dirty="0">
                <a:solidFill>
                  <a:srgbClr val="56B4E9"/>
                </a:solidFill>
                <a:latin typeface="Calibri" pitchFamily="34" charset="0"/>
                <a:ea typeface="Calibri" pitchFamily="34" charset="-122"/>
                <a:cs typeface="Calibri" pitchFamily="34" charset="-120"/>
              </a:rPr>
              <a:t>ellmer-practice — a Shiny teaching workbench for data science, driven by natural language.</a:t>
            </a:r>
            <a:endParaRPr lang="en-US" sz="1400" dirty="0"/>
          </a:p>
        </p:txBody>
      </p:sp>
      <p:sp>
        <p:nvSpPr>
          <p:cNvPr id="9" name="Text 6"/>
          <p:cNvSpPr/>
          <p:nvPr/>
        </p:nvSpPr>
        <p:spPr>
          <a:xfrm>
            <a:off x="658368" y="4261104"/>
            <a:ext cx="4937760" cy="365760"/>
          </a:xfrm>
          <a:prstGeom prst="rect">
            <a:avLst/>
          </a:prstGeom>
          <a:noFill/>
          <a:ln/>
        </p:spPr>
        <p:txBody>
          <a:bodyPr wrap="square" lIns="0" tIns="0" rIns="0" bIns="0" rtlCol="0" anchor="t"/>
          <a:lstStyle/>
          <a:p>
            <a:pPr indent="0" marL="0">
              <a:buNone/>
            </a:pPr>
            <a:r>
              <a:rPr lang="en-US" sz="1300" i="1" dirty="0">
                <a:solidFill>
                  <a:srgbClr val="E69F00"/>
                </a:solidFill>
                <a:latin typeface="Calibri" pitchFamily="34" charset="0"/>
                <a:ea typeface="Calibri" pitchFamily="34" charset="-122"/>
                <a:cs typeface="Calibri" pitchFamily="34" charset="-120"/>
              </a:rPr>
              <a:t>Demoed live on midwest — 437 Midwestern counties from ggplot2.</a:t>
            </a:r>
            <a:endParaRPr lang="en-US" sz="1300" dirty="0"/>
          </a:p>
        </p:txBody>
      </p:sp>
      <p:sp>
        <p:nvSpPr>
          <p:cNvPr id="10" name="Text 7"/>
          <p:cNvSpPr/>
          <p:nvPr/>
        </p:nvSpPr>
        <p:spPr>
          <a:xfrm>
            <a:off x="658368" y="5029200"/>
            <a:ext cx="4937760" cy="320040"/>
          </a:xfrm>
          <a:prstGeom prst="rect">
            <a:avLst/>
          </a:prstGeom>
          <a:noFill/>
          <a:ln/>
        </p:spPr>
        <p:txBody>
          <a:bodyPr wrap="square" lIns="0" tIns="0" rIns="0" bIns="0" rtlCol="0" anchor="ctr"/>
          <a:lstStyle/>
          <a:p>
            <a:pPr indent="0" marL="0">
              <a:buNone/>
            </a:pPr>
            <a:r>
              <a:rPr lang="en-US" sz="1100" spc="100" kern="0" dirty="0">
                <a:solidFill>
                  <a:srgbClr val="8FA3B8"/>
                </a:solidFill>
                <a:latin typeface="Courier New" pitchFamily="34" charset="0"/>
                <a:ea typeface="Courier New" pitchFamily="34" charset="-122"/>
                <a:cs typeface="Courier New" pitchFamily="34" charset="-120"/>
              </a:rPr>
              <a:t>Ethan Bard  ·  August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algn="l" indent="0" marL="0">
              <a:buNone/>
            </a:pPr>
            <a:r>
              <a:rPr lang="en-US" sz="3200" b="1" dirty="0">
                <a:solidFill>
                  <a:srgbClr val="16283C"/>
                </a:solidFill>
                <a:latin typeface="Cambria" pitchFamily="34" charset="0"/>
                <a:ea typeface="Cambria" pitchFamily="34" charset="-122"/>
                <a:cs typeface="Cambria" pitchFamily="34" charset="-120"/>
              </a:rPr>
              <a:t>The model never sees your rows</a:t>
            </a:r>
            <a:endParaRPr lang="en-US" sz="3200" dirty="0"/>
          </a:p>
        </p:txBody>
      </p:sp>
      <p:sp>
        <p:nvSpPr>
          <p:cNvPr id="3" name="Text 1"/>
          <p:cNvSpPr/>
          <p:nvPr/>
        </p:nvSpPr>
        <p:spPr>
          <a:xfrm>
            <a:off x="566928" y="1033272"/>
            <a:ext cx="11064240" cy="310896"/>
          </a:xfrm>
          <a:prstGeom prst="rect">
            <a:avLst/>
          </a:prstGeom>
          <a:noFill/>
          <a:ln/>
        </p:spPr>
        <p:txBody>
          <a:bodyPr wrap="square" lIns="0" tIns="0" rIns="0" bIns="0" rtlCol="0" anchor="ctr"/>
          <a:lstStyle/>
          <a:p>
            <a:pPr algn="l" indent="0" marL="0">
              <a:buNone/>
            </a:pPr>
            <a:r>
              <a:rPr lang="en-US" sz="1300" i="1" dirty="0">
                <a:solidFill>
                  <a:srgbClr val="68788A"/>
                </a:solidFill>
                <a:latin typeface="Calibri" pitchFamily="34" charset="0"/>
                <a:ea typeface="Calibri" pitchFamily="34" charset="-122"/>
                <a:cs typeface="Calibri" pitchFamily="34" charset="-120"/>
              </a:rPr>
              <a:t>What goes to the LLM is a statistical profile of the table — not the data itself</a:t>
            </a:r>
            <a:endParaRPr lang="en-US" sz="1300" dirty="0"/>
          </a:p>
        </p:txBody>
      </p:sp>
      <p:sp>
        <p:nvSpPr>
          <p:cNvPr id="4" name="Shape 2"/>
          <p:cNvSpPr/>
          <p:nvPr/>
        </p:nvSpPr>
        <p:spPr>
          <a:xfrm>
            <a:off x="548640" y="1572768"/>
            <a:ext cx="6858000" cy="1371600"/>
          </a:xfrm>
          <a:prstGeom prst="roundRect">
            <a:avLst>
              <a:gd name="adj" fmla="val 3333"/>
            </a:avLst>
          </a:prstGeom>
          <a:solidFill>
            <a:srgbClr val="F3F5F8"/>
          </a:solidFill>
          <a:ln w="12700">
            <a:solidFill>
              <a:srgbClr val="F3F5F8"/>
            </a:solidFill>
            <a:prstDash val="solid"/>
          </a:ln>
        </p:spPr>
      </p:sp>
      <p:sp>
        <p:nvSpPr>
          <p:cNvPr id="5" name="Shape 3"/>
          <p:cNvSpPr/>
          <p:nvPr/>
        </p:nvSpPr>
        <p:spPr>
          <a:xfrm>
            <a:off x="777240" y="1865376"/>
            <a:ext cx="566928" cy="566928"/>
          </a:xfrm>
          <a:prstGeom prst="roundRect">
            <a:avLst>
              <a:gd name="adj" fmla="val 22581"/>
            </a:avLst>
          </a:prstGeom>
          <a:solidFill>
            <a:srgbClr val="E69F00"/>
          </a:solidFill>
          <a:ln w="12700">
            <a:solidFill>
              <a:srgbClr val="E69F00"/>
            </a:solidFill>
            <a:prstDash val="solid"/>
          </a:ln>
        </p:spPr>
      </p:sp>
      <p:sp>
        <p:nvSpPr>
          <p:cNvPr id="6" name="Text 4"/>
          <p:cNvSpPr/>
          <p:nvPr/>
        </p:nvSpPr>
        <p:spPr>
          <a:xfrm>
            <a:off x="777240" y="1865376"/>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01</a:t>
            </a:r>
            <a:endParaRPr lang="en-US" sz="1400" dirty="0"/>
          </a:p>
        </p:txBody>
      </p:sp>
      <p:sp>
        <p:nvSpPr>
          <p:cNvPr id="7" name="Text 5"/>
          <p:cNvSpPr/>
          <p:nvPr/>
        </p:nvSpPr>
        <p:spPr>
          <a:xfrm>
            <a:off x="1536192" y="1792224"/>
            <a:ext cx="5669280" cy="310896"/>
          </a:xfrm>
          <a:prstGeom prst="rect">
            <a:avLst/>
          </a:prstGeom>
          <a:noFill/>
          <a:ln/>
        </p:spPr>
        <p:txBody>
          <a:bodyPr wrap="square" lIns="0" tIns="0" rIns="0" bIns="0" rtlCol="0" anchor="ctr"/>
          <a:lstStyle/>
          <a:p>
            <a:pPr indent="0" marL="0">
              <a:buNone/>
            </a:pPr>
            <a:r>
              <a:rPr lang="en-US" sz="1500" b="1" dirty="0">
                <a:solidFill>
                  <a:srgbClr val="16283C"/>
                </a:solidFill>
                <a:latin typeface="Calibri" pitchFamily="34" charset="0"/>
                <a:ea typeface="Calibri" pitchFamily="34" charset="-122"/>
                <a:cs typeface="Calibri" pitchFamily="34" charset="-120"/>
              </a:rPr>
              <a:t>What it sees</a:t>
            </a:r>
            <a:endParaRPr lang="en-US" sz="1500" dirty="0"/>
          </a:p>
        </p:txBody>
      </p:sp>
      <p:sp>
        <p:nvSpPr>
          <p:cNvPr id="8" name="Text 6"/>
          <p:cNvSpPr/>
          <p:nvPr/>
        </p:nvSpPr>
        <p:spPr>
          <a:xfrm>
            <a:off x="1536192" y="2121408"/>
            <a:ext cx="5669280" cy="658368"/>
          </a:xfrm>
          <a:prstGeom prst="rect">
            <a:avLst/>
          </a:prstGeom>
          <a:noFill/>
          <a:ln/>
        </p:spPr>
        <p:txBody>
          <a:bodyPr wrap="square" lIns="0" tIns="0" rIns="0" bIns="0" rtlCol="0" anchor="t"/>
          <a:lstStyle/>
          <a:p>
            <a:pPr indent="0" marL="0">
              <a:buNone/>
            </a:pPr>
            <a:r>
              <a:rPr lang="en-US" sz="1250" dirty="0">
                <a:solidFill>
                  <a:srgbClr val="1B2733"/>
                </a:solidFill>
                <a:latin typeface="Calibri" pitchFamily="34" charset="0"/>
                <a:ea typeface="Calibri" pitchFamily="34" charset="-122"/>
                <a:cs typeface="Calibri" pitchFamily="34" charset="-120"/>
              </a:rPr>
              <a:t>Column roles, ranges, missingness — a profile computed in R from statistics, not a hardcoded schema.</a:t>
            </a:r>
            <a:endParaRPr lang="en-US" sz="1250" dirty="0"/>
          </a:p>
        </p:txBody>
      </p:sp>
      <p:sp>
        <p:nvSpPr>
          <p:cNvPr id="9" name="Shape 7"/>
          <p:cNvSpPr/>
          <p:nvPr/>
        </p:nvSpPr>
        <p:spPr>
          <a:xfrm>
            <a:off x="548640" y="3090672"/>
            <a:ext cx="6858000" cy="1371600"/>
          </a:xfrm>
          <a:prstGeom prst="roundRect">
            <a:avLst>
              <a:gd name="adj" fmla="val 3333"/>
            </a:avLst>
          </a:prstGeom>
          <a:solidFill>
            <a:srgbClr val="F3F5F8"/>
          </a:solidFill>
          <a:ln w="12700">
            <a:solidFill>
              <a:srgbClr val="F3F5F8"/>
            </a:solidFill>
            <a:prstDash val="solid"/>
          </a:ln>
        </p:spPr>
      </p:sp>
      <p:sp>
        <p:nvSpPr>
          <p:cNvPr id="10" name="Shape 8"/>
          <p:cNvSpPr/>
          <p:nvPr/>
        </p:nvSpPr>
        <p:spPr>
          <a:xfrm>
            <a:off x="777240" y="3383280"/>
            <a:ext cx="566928" cy="566928"/>
          </a:xfrm>
          <a:prstGeom prst="roundRect">
            <a:avLst>
              <a:gd name="adj" fmla="val 22581"/>
            </a:avLst>
          </a:prstGeom>
          <a:solidFill>
            <a:srgbClr val="0072B2"/>
          </a:solidFill>
          <a:ln w="12700">
            <a:solidFill>
              <a:srgbClr val="0072B2"/>
            </a:solidFill>
            <a:prstDash val="solid"/>
          </a:ln>
        </p:spPr>
      </p:sp>
      <p:sp>
        <p:nvSpPr>
          <p:cNvPr id="11" name="Text 9"/>
          <p:cNvSpPr/>
          <p:nvPr/>
        </p:nvSpPr>
        <p:spPr>
          <a:xfrm>
            <a:off x="777240" y="338328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02</a:t>
            </a:r>
            <a:endParaRPr lang="en-US" sz="1400" dirty="0"/>
          </a:p>
        </p:txBody>
      </p:sp>
      <p:sp>
        <p:nvSpPr>
          <p:cNvPr id="12" name="Text 10"/>
          <p:cNvSpPr/>
          <p:nvPr/>
        </p:nvSpPr>
        <p:spPr>
          <a:xfrm>
            <a:off x="1536192" y="3310128"/>
            <a:ext cx="5669280" cy="310896"/>
          </a:xfrm>
          <a:prstGeom prst="rect">
            <a:avLst/>
          </a:prstGeom>
          <a:noFill/>
          <a:ln/>
        </p:spPr>
        <p:txBody>
          <a:bodyPr wrap="square" lIns="0" tIns="0" rIns="0" bIns="0" rtlCol="0" anchor="ctr"/>
          <a:lstStyle/>
          <a:p>
            <a:pPr indent="0" marL="0">
              <a:buNone/>
            </a:pPr>
            <a:r>
              <a:rPr lang="en-US" sz="1500" b="1" dirty="0">
                <a:solidFill>
                  <a:srgbClr val="16283C"/>
                </a:solidFill>
                <a:latin typeface="Calibri" pitchFamily="34" charset="0"/>
                <a:ea typeface="Calibri" pitchFamily="34" charset="-122"/>
                <a:cs typeface="Calibri" pitchFamily="34" charset="-120"/>
              </a:rPr>
              <a:t>What it does</a:t>
            </a:r>
            <a:endParaRPr lang="en-US" sz="1500" dirty="0"/>
          </a:p>
        </p:txBody>
      </p:sp>
      <p:sp>
        <p:nvSpPr>
          <p:cNvPr id="13" name="Text 11"/>
          <p:cNvSpPr/>
          <p:nvPr/>
        </p:nvSpPr>
        <p:spPr>
          <a:xfrm>
            <a:off x="1536192" y="3639312"/>
            <a:ext cx="5669280" cy="658368"/>
          </a:xfrm>
          <a:prstGeom prst="rect">
            <a:avLst/>
          </a:prstGeom>
          <a:noFill/>
          <a:ln/>
        </p:spPr>
        <p:txBody>
          <a:bodyPr wrap="square" lIns="0" tIns="0" rIns="0" bIns="0" rtlCol="0" anchor="t"/>
          <a:lstStyle/>
          <a:p>
            <a:pPr indent="0" marL="0">
              <a:buNone/>
            </a:pPr>
            <a:r>
              <a:rPr lang="en-US" sz="1250" dirty="0">
                <a:solidFill>
                  <a:srgbClr val="1B2733"/>
                </a:solidFill>
                <a:latin typeface="Calibri" pitchFamily="34" charset="0"/>
                <a:ea typeface="Calibri" pitchFamily="34" charset="-122"/>
                <a:cs typeface="Calibri" pitchFamily="34" charset="-120"/>
              </a:rPr>
              <a:t>Calls exactly one typed tool per turn: set_dashboard on Explore, set_model on Model.</a:t>
            </a:r>
            <a:endParaRPr lang="en-US" sz="1250" dirty="0"/>
          </a:p>
        </p:txBody>
      </p:sp>
      <p:sp>
        <p:nvSpPr>
          <p:cNvPr id="14" name="Shape 12"/>
          <p:cNvSpPr/>
          <p:nvPr/>
        </p:nvSpPr>
        <p:spPr>
          <a:xfrm>
            <a:off x="548640" y="4608576"/>
            <a:ext cx="6858000" cy="1371600"/>
          </a:xfrm>
          <a:prstGeom prst="roundRect">
            <a:avLst>
              <a:gd name="adj" fmla="val 3333"/>
            </a:avLst>
          </a:prstGeom>
          <a:solidFill>
            <a:srgbClr val="F3F5F8"/>
          </a:solidFill>
          <a:ln w="12700">
            <a:solidFill>
              <a:srgbClr val="F3F5F8"/>
            </a:solidFill>
            <a:prstDash val="solid"/>
          </a:ln>
        </p:spPr>
      </p:sp>
      <p:sp>
        <p:nvSpPr>
          <p:cNvPr id="15" name="Shape 13"/>
          <p:cNvSpPr/>
          <p:nvPr/>
        </p:nvSpPr>
        <p:spPr>
          <a:xfrm>
            <a:off x="777240" y="4901184"/>
            <a:ext cx="566928" cy="566928"/>
          </a:xfrm>
          <a:prstGeom prst="roundRect">
            <a:avLst>
              <a:gd name="adj" fmla="val 22581"/>
            </a:avLst>
          </a:prstGeom>
          <a:solidFill>
            <a:srgbClr val="009E73"/>
          </a:solidFill>
          <a:ln w="12700">
            <a:solidFill>
              <a:srgbClr val="009E73"/>
            </a:solidFill>
            <a:prstDash val="solid"/>
          </a:ln>
        </p:spPr>
      </p:sp>
      <p:sp>
        <p:nvSpPr>
          <p:cNvPr id="16" name="Text 14"/>
          <p:cNvSpPr/>
          <p:nvPr/>
        </p:nvSpPr>
        <p:spPr>
          <a:xfrm>
            <a:off x="777240" y="4901184"/>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03</a:t>
            </a:r>
            <a:endParaRPr lang="en-US" sz="1400" dirty="0"/>
          </a:p>
        </p:txBody>
      </p:sp>
      <p:sp>
        <p:nvSpPr>
          <p:cNvPr id="17" name="Text 15"/>
          <p:cNvSpPr/>
          <p:nvPr/>
        </p:nvSpPr>
        <p:spPr>
          <a:xfrm>
            <a:off x="1536192" y="4828032"/>
            <a:ext cx="5669280" cy="310896"/>
          </a:xfrm>
          <a:prstGeom prst="rect">
            <a:avLst/>
          </a:prstGeom>
          <a:noFill/>
          <a:ln/>
        </p:spPr>
        <p:txBody>
          <a:bodyPr wrap="square" lIns="0" tIns="0" rIns="0" bIns="0" rtlCol="0" anchor="ctr"/>
          <a:lstStyle/>
          <a:p>
            <a:pPr indent="0" marL="0">
              <a:buNone/>
            </a:pPr>
            <a:r>
              <a:rPr lang="en-US" sz="1500" b="1" dirty="0">
                <a:solidFill>
                  <a:srgbClr val="16283C"/>
                </a:solidFill>
                <a:latin typeface="Calibri" pitchFamily="34" charset="0"/>
                <a:ea typeface="Calibri" pitchFamily="34" charset="-122"/>
                <a:cs typeface="Calibri" pitchFamily="34" charset="-120"/>
              </a:rPr>
              <a:t>What it reads back</a:t>
            </a:r>
            <a:endParaRPr lang="en-US" sz="1500" dirty="0"/>
          </a:p>
        </p:txBody>
      </p:sp>
      <p:sp>
        <p:nvSpPr>
          <p:cNvPr id="18" name="Text 16"/>
          <p:cNvSpPr/>
          <p:nvPr/>
        </p:nvSpPr>
        <p:spPr>
          <a:xfrm>
            <a:off x="1536192" y="5157216"/>
            <a:ext cx="5669280" cy="658368"/>
          </a:xfrm>
          <a:prstGeom prst="rect">
            <a:avLst/>
          </a:prstGeom>
          <a:noFill/>
          <a:ln/>
        </p:spPr>
        <p:txBody>
          <a:bodyPr wrap="square" lIns="0" tIns="0" rIns="0" bIns="0" rtlCol="0" anchor="t"/>
          <a:lstStyle/>
          <a:p>
            <a:pPr indent="0" marL="0">
              <a:buNone/>
            </a:pPr>
            <a:r>
              <a:rPr lang="en-US" sz="1250" dirty="0">
                <a:solidFill>
                  <a:srgbClr val="1B2733"/>
                </a:solidFill>
                <a:latin typeface="Calibri" pitchFamily="34" charset="0"/>
                <a:ea typeface="Calibri" pitchFamily="34" charset="-122"/>
                <a:cs typeface="Calibri" pitchFamily="34" charset="-120"/>
              </a:rPr>
              <a:t>The numbers R just produced — so the explanation is anchored to a real result, not a guess.</a:t>
            </a:r>
            <a:endParaRPr lang="en-US" sz="1250" dirty="0"/>
          </a:p>
        </p:txBody>
      </p:sp>
      <p:pic>
        <p:nvPicPr>
          <p:cNvPr id="19" name="Image 0" descr="/home/claude/deck/img/s0_cols.jpg">    </p:cNvPr>
          <p:cNvPicPr>
            <a:picLocks noChangeAspect="1"/>
          </p:cNvPicPr>
          <p:nvPr/>
        </p:nvPicPr>
        <p:blipFill>
          <a:blip r:embed="rId1"/>
          <a:stretch>
            <a:fillRect/>
          </a:stretch>
        </p:blipFill>
        <p:spPr>
          <a:xfrm>
            <a:off x="7818120" y="1572768"/>
            <a:ext cx="2606040" cy="3986784"/>
          </a:xfrm>
          <a:prstGeom prst="rect">
            <a:avLst/>
          </a:prstGeom>
          <a:effectLst>
            <a:outerShdw sx="100000" sy="100000" kx="0" ky="0" algn="bl" rotWithShape="0" blurRad="177800" dist="38100" dir="5400000">
              <a:srgbClr val="000000">
                <a:alpha val="20000"/>
              </a:srgbClr>
            </a:outerShdw>
          </a:effectLst>
        </p:spPr>
      </p:pic>
      <p:sp>
        <p:nvSpPr>
          <p:cNvPr id="20" name="Text 17"/>
          <p:cNvSpPr/>
          <p:nvPr/>
        </p:nvSpPr>
        <p:spPr>
          <a:xfrm>
            <a:off x="7818120" y="5650992"/>
            <a:ext cx="3794760" cy="640080"/>
          </a:xfrm>
          <a:prstGeom prst="rect">
            <a:avLst/>
          </a:prstGeom>
          <a:noFill/>
          <a:ln/>
        </p:spPr>
        <p:txBody>
          <a:bodyPr wrap="square" lIns="0" tIns="0" rIns="0" bIns="0" rtlCol="0" anchor="t"/>
          <a:lstStyle/>
          <a:p>
            <a:pPr indent="0" marL="0">
              <a:buNone/>
            </a:pPr>
            <a:r>
              <a:rPr lang="en-US" sz="1100" i="1" dirty="0">
                <a:solidFill>
                  <a:srgbClr val="68788A"/>
                </a:solidFill>
                <a:latin typeface="Calibri" pitchFamily="34" charset="0"/>
                <a:ea typeface="Calibri" pitchFamily="34" charset="-122"/>
                <a:cs typeface="Calibri" pitchFamily="34" charset="-120"/>
              </a:rPr>
              <a:t>The profile the app builds for midwest: 28 columns, roles inferred from the data.</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algn="l" indent="0" marL="0">
              <a:buNone/>
            </a:pPr>
            <a:r>
              <a:rPr lang="en-US" sz="3200" b="1" dirty="0">
                <a:solidFill>
                  <a:srgbClr val="16283C"/>
                </a:solidFill>
                <a:latin typeface="Cambria" pitchFamily="34" charset="0"/>
                <a:ea typeface="Cambria" pitchFamily="34" charset="-122"/>
                <a:cs typeface="Cambria" pitchFamily="34" charset="-120"/>
              </a:rPr>
              <a:t>One question, one tool, one loop</a:t>
            </a:r>
            <a:endParaRPr lang="en-US" sz="3200" dirty="0"/>
          </a:p>
        </p:txBody>
      </p:sp>
      <p:sp>
        <p:nvSpPr>
          <p:cNvPr id="3" name="Text 1"/>
          <p:cNvSpPr/>
          <p:nvPr/>
        </p:nvSpPr>
        <p:spPr>
          <a:xfrm>
            <a:off x="566928" y="1033272"/>
            <a:ext cx="11064240" cy="310896"/>
          </a:xfrm>
          <a:prstGeom prst="rect">
            <a:avLst/>
          </a:prstGeom>
          <a:noFill/>
          <a:ln/>
        </p:spPr>
        <p:txBody>
          <a:bodyPr wrap="square" lIns="0" tIns="0" rIns="0" bIns="0" rtlCol="0" anchor="ctr"/>
          <a:lstStyle/>
          <a:p>
            <a:pPr algn="l" indent="0" marL="0">
              <a:buNone/>
            </a:pPr>
            <a:r>
              <a:rPr lang="en-US" sz="1300" i="1" dirty="0">
                <a:solidFill>
                  <a:srgbClr val="68788A"/>
                </a:solidFill>
                <a:latin typeface="Calibri" pitchFamily="34" charset="0"/>
                <a:ea typeface="Calibri" pitchFamily="34" charset="-122"/>
                <a:cs typeface="Calibri" pitchFamily="34" charset="-120"/>
              </a:rPr>
              <a:t>The same five steps run on both pages — only the tool name changes</a:t>
            </a:r>
            <a:endParaRPr lang="en-US" sz="1300" dirty="0"/>
          </a:p>
        </p:txBody>
      </p:sp>
      <p:sp>
        <p:nvSpPr>
          <p:cNvPr id="4" name="Shape 2"/>
          <p:cNvSpPr/>
          <p:nvPr/>
        </p:nvSpPr>
        <p:spPr>
          <a:xfrm>
            <a:off x="603504" y="1828800"/>
            <a:ext cx="2121408" cy="2331720"/>
          </a:xfrm>
          <a:prstGeom prst="roundRect">
            <a:avLst>
              <a:gd name="adj" fmla="val 2155"/>
            </a:avLst>
          </a:prstGeom>
          <a:solidFill>
            <a:srgbClr val="F3F5F8"/>
          </a:solidFill>
          <a:ln w="12700">
            <a:solidFill>
              <a:srgbClr val="F3F5F8"/>
            </a:solidFill>
            <a:prstDash val="solid"/>
          </a:ln>
        </p:spPr>
      </p:sp>
      <p:sp>
        <p:nvSpPr>
          <p:cNvPr id="5" name="Shape 3"/>
          <p:cNvSpPr/>
          <p:nvPr/>
        </p:nvSpPr>
        <p:spPr>
          <a:xfrm>
            <a:off x="804672" y="2048256"/>
            <a:ext cx="548640" cy="548640"/>
          </a:xfrm>
          <a:prstGeom prst="roundRect">
            <a:avLst>
              <a:gd name="adj" fmla="val 23333"/>
            </a:avLst>
          </a:prstGeom>
          <a:solidFill>
            <a:srgbClr val="E69F00"/>
          </a:solidFill>
          <a:ln w="12700">
            <a:solidFill>
              <a:srgbClr val="E69F00"/>
            </a:solidFill>
            <a:prstDash val="solid"/>
          </a:ln>
        </p:spPr>
      </p:sp>
      <p:sp>
        <p:nvSpPr>
          <p:cNvPr id="6" name="Text 4"/>
          <p:cNvSpPr/>
          <p:nvPr/>
        </p:nvSpPr>
        <p:spPr>
          <a:xfrm>
            <a:off x="804672" y="2048256"/>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1</a:t>
            </a:r>
            <a:endParaRPr lang="en-US" sz="1500" dirty="0"/>
          </a:p>
        </p:txBody>
      </p:sp>
      <p:sp>
        <p:nvSpPr>
          <p:cNvPr id="7" name="Text 5"/>
          <p:cNvSpPr/>
          <p:nvPr/>
        </p:nvSpPr>
        <p:spPr>
          <a:xfrm>
            <a:off x="804672" y="2743200"/>
            <a:ext cx="1719072" cy="365760"/>
          </a:xfrm>
          <a:prstGeom prst="rect">
            <a:avLst/>
          </a:prstGeom>
          <a:noFill/>
          <a:ln/>
        </p:spPr>
        <p:txBody>
          <a:bodyPr wrap="square" lIns="0" tIns="0" rIns="0" bIns="0" rtlCol="0" anchor="t"/>
          <a:lstStyle/>
          <a:p>
            <a:pPr indent="0" marL="0">
              <a:buNone/>
            </a:pPr>
            <a:r>
              <a:rPr lang="en-US" sz="1500" b="1" dirty="0">
                <a:solidFill>
                  <a:srgbClr val="16283C"/>
                </a:solidFill>
                <a:latin typeface="Calibri" pitchFamily="34" charset="0"/>
                <a:ea typeface="Calibri" pitchFamily="34" charset="-122"/>
                <a:cs typeface="Calibri" pitchFamily="34" charset="-120"/>
              </a:rPr>
              <a:t>You ask</a:t>
            </a:r>
            <a:endParaRPr lang="en-US" sz="1500" dirty="0"/>
          </a:p>
        </p:txBody>
      </p:sp>
      <p:sp>
        <p:nvSpPr>
          <p:cNvPr id="8" name="Text 6"/>
          <p:cNvSpPr/>
          <p:nvPr/>
        </p:nvSpPr>
        <p:spPr>
          <a:xfrm>
            <a:off x="804672" y="3145536"/>
            <a:ext cx="1719072" cy="1188720"/>
          </a:xfrm>
          <a:prstGeom prst="rect">
            <a:avLst/>
          </a:prstGeom>
          <a:noFill/>
          <a:ln/>
        </p:spPr>
        <p:txBody>
          <a:bodyPr wrap="square" lIns="0" tIns="0" rIns="0" bIns="0" rtlCol="0" anchor="t"/>
          <a:lstStyle/>
          <a:p>
            <a:pPr indent="0" marL="0">
              <a:buNone/>
            </a:pPr>
            <a:r>
              <a:rPr lang="en-US" sz="1250" dirty="0">
                <a:solidFill>
                  <a:srgbClr val="1B2733"/>
                </a:solidFill>
                <a:latin typeface="Calibri" pitchFamily="34" charset="0"/>
                <a:ea typeface="Calibri" pitchFamily="34" charset="-122"/>
                <a:cs typeface="Calibri" pitchFamily="34" charset="-120"/>
              </a:rPr>
              <a:t>Plain English in the chat pane.</a:t>
            </a:r>
            <a:endParaRPr lang="en-US" sz="1250" dirty="0"/>
          </a:p>
        </p:txBody>
      </p:sp>
      <p:sp>
        <p:nvSpPr>
          <p:cNvPr id="9" name="Shape 7"/>
          <p:cNvSpPr/>
          <p:nvPr/>
        </p:nvSpPr>
        <p:spPr>
          <a:xfrm>
            <a:off x="2962656" y="1828800"/>
            <a:ext cx="2121408" cy="2331720"/>
          </a:xfrm>
          <a:prstGeom prst="roundRect">
            <a:avLst>
              <a:gd name="adj" fmla="val 2155"/>
            </a:avLst>
          </a:prstGeom>
          <a:solidFill>
            <a:srgbClr val="F3F5F8"/>
          </a:solidFill>
          <a:ln w="12700">
            <a:solidFill>
              <a:srgbClr val="F3F5F8"/>
            </a:solidFill>
            <a:prstDash val="solid"/>
          </a:ln>
        </p:spPr>
      </p:sp>
      <p:sp>
        <p:nvSpPr>
          <p:cNvPr id="10" name="Shape 8"/>
          <p:cNvSpPr/>
          <p:nvPr/>
        </p:nvSpPr>
        <p:spPr>
          <a:xfrm>
            <a:off x="3163824" y="2048256"/>
            <a:ext cx="548640" cy="548640"/>
          </a:xfrm>
          <a:prstGeom prst="roundRect">
            <a:avLst>
              <a:gd name="adj" fmla="val 23333"/>
            </a:avLst>
          </a:prstGeom>
          <a:solidFill>
            <a:srgbClr val="0072B2"/>
          </a:solidFill>
          <a:ln w="12700">
            <a:solidFill>
              <a:srgbClr val="0072B2"/>
            </a:solidFill>
            <a:prstDash val="solid"/>
          </a:ln>
        </p:spPr>
      </p:sp>
      <p:sp>
        <p:nvSpPr>
          <p:cNvPr id="11" name="Text 9"/>
          <p:cNvSpPr/>
          <p:nvPr/>
        </p:nvSpPr>
        <p:spPr>
          <a:xfrm>
            <a:off x="3163824" y="2048256"/>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2</a:t>
            </a:r>
            <a:endParaRPr lang="en-US" sz="1500" dirty="0"/>
          </a:p>
        </p:txBody>
      </p:sp>
      <p:sp>
        <p:nvSpPr>
          <p:cNvPr id="12" name="Text 10"/>
          <p:cNvSpPr/>
          <p:nvPr/>
        </p:nvSpPr>
        <p:spPr>
          <a:xfrm>
            <a:off x="3163824" y="2743200"/>
            <a:ext cx="1719072" cy="365760"/>
          </a:xfrm>
          <a:prstGeom prst="rect">
            <a:avLst/>
          </a:prstGeom>
          <a:noFill/>
          <a:ln/>
        </p:spPr>
        <p:txBody>
          <a:bodyPr wrap="square" lIns="0" tIns="0" rIns="0" bIns="0" rtlCol="0" anchor="t"/>
          <a:lstStyle/>
          <a:p>
            <a:pPr indent="0" marL="0">
              <a:buNone/>
            </a:pPr>
            <a:r>
              <a:rPr lang="en-US" sz="1500" b="1" dirty="0">
                <a:solidFill>
                  <a:srgbClr val="16283C"/>
                </a:solidFill>
                <a:latin typeface="Calibri" pitchFamily="34" charset="0"/>
                <a:ea typeface="Calibri" pitchFamily="34" charset="-122"/>
                <a:cs typeface="Calibri" pitchFamily="34" charset="-120"/>
              </a:rPr>
              <a:t>One tool fires</a:t>
            </a:r>
            <a:endParaRPr lang="en-US" sz="1500" dirty="0"/>
          </a:p>
        </p:txBody>
      </p:sp>
      <p:sp>
        <p:nvSpPr>
          <p:cNvPr id="13" name="Text 11"/>
          <p:cNvSpPr/>
          <p:nvPr/>
        </p:nvSpPr>
        <p:spPr>
          <a:xfrm>
            <a:off x="3163824" y="3145536"/>
            <a:ext cx="1719072" cy="1188720"/>
          </a:xfrm>
          <a:prstGeom prst="rect">
            <a:avLst/>
          </a:prstGeom>
          <a:noFill/>
          <a:ln/>
        </p:spPr>
        <p:txBody>
          <a:bodyPr wrap="square" lIns="0" tIns="0" rIns="0" bIns="0" rtlCol="0" anchor="t"/>
          <a:lstStyle/>
          <a:p>
            <a:pPr indent="0" marL="0">
              <a:buNone/>
            </a:pPr>
            <a:r>
              <a:rPr lang="en-US" sz="1250" dirty="0">
                <a:solidFill>
                  <a:srgbClr val="1B2733"/>
                </a:solidFill>
                <a:latin typeface="Calibri" pitchFamily="34" charset="0"/>
                <a:ea typeface="Calibri" pitchFamily="34" charset="-122"/>
                <a:cs typeface="Calibri" pitchFamily="34" charset="-120"/>
              </a:rPr>
              <a:t>set_dashboard or set_model — never two.</a:t>
            </a:r>
            <a:endParaRPr lang="en-US" sz="1250" dirty="0"/>
          </a:p>
        </p:txBody>
      </p:sp>
      <p:sp>
        <p:nvSpPr>
          <p:cNvPr id="14" name="Shape 12"/>
          <p:cNvSpPr/>
          <p:nvPr/>
        </p:nvSpPr>
        <p:spPr>
          <a:xfrm>
            <a:off x="5321808" y="1828800"/>
            <a:ext cx="2121408" cy="2331720"/>
          </a:xfrm>
          <a:prstGeom prst="roundRect">
            <a:avLst>
              <a:gd name="adj" fmla="val 2155"/>
            </a:avLst>
          </a:prstGeom>
          <a:solidFill>
            <a:srgbClr val="F3F5F8"/>
          </a:solidFill>
          <a:ln w="12700">
            <a:solidFill>
              <a:srgbClr val="F3F5F8"/>
            </a:solidFill>
            <a:prstDash val="solid"/>
          </a:ln>
        </p:spPr>
      </p:sp>
      <p:sp>
        <p:nvSpPr>
          <p:cNvPr id="15" name="Shape 13"/>
          <p:cNvSpPr/>
          <p:nvPr/>
        </p:nvSpPr>
        <p:spPr>
          <a:xfrm>
            <a:off x="5522976" y="2048256"/>
            <a:ext cx="548640" cy="548640"/>
          </a:xfrm>
          <a:prstGeom prst="roundRect">
            <a:avLst>
              <a:gd name="adj" fmla="val 23333"/>
            </a:avLst>
          </a:prstGeom>
          <a:solidFill>
            <a:srgbClr val="009E73"/>
          </a:solidFill>
          <a:ln w="12700">
            <a:solidFill>
              <a:srgbClr val="009E73"/>
            </a:solidFill>
            <a:prstDash val="solid"/>
          </a:ln>
        </p:spPr>
      </p:sp>
      <p:sp>
        <p:nvSpPr>
          <p:cNvPr id="16" name="Text 14"/>
          <p:cNvSpPr/>
          <p:nvPr/>
        </p:nvSpPr>
        <p:spPr>
          <a:xfrm>
            <a:off x="5522976" y="2048256"/>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3</a:t>
            </a:r>
            <a:endParaRPr lang="en-US" sz="1500" dirty="0"/>
          </a:p>
        </p:txBody>
      </p:sp>
      <p:sp>
        <p:nvSpPr>
          <p:cNvPr id="17" name="Text 15"/>
          <p:cNvSpPr/>
          <p:nvPr/>
        </p:nvSpPr>
        <p:spPr>
          <a:xfrm>
            <a:off x="5522976" y="2743200"/>
            <a:ext cx="1719072" cy="365760"/>
          </a:xfrm>
          <a:prstGeom prst="rect">
            <a:avLst/>
          </a:prstGeom>
          <a:noFill/>
          <a:ln/>
        </p:spPr>
        <p:txBody>
          <a:bodyPr wrap="square" lIns="0" tIns="0" rIns="0" bIns="0" rtlCol="0" anchor="t"/>
          <a:lstStyle/>
          <a:p>
            <a:pPr indent="0" marL="0">
              <a:buNone/>
            </a:pPr>
            <a:r>
              <a:rPr lang="en-US" sz="1500" b="1" dirty="0">
                <a:solidFill>
                  <a:srgbClr val="16283C"/>
                </a:solidFill>
                <a:latin typeface="Calibri" pitchFamily="34" charset="0"/>
                <a:ea typeface="Calibri" pitchFamily="34" charset="-122"/>
                <a:cs typeface="Calibri" pitchFamily="34" charset="-120"/>
              </a:rPr>
              <a:t>R does the work</a:t>
            </a:r>
            <a:endParaRPr lang="en-US" sz="1500" dirty="0"/>
          </a:p>
        </p:txBody>
      </p:sp>
      <p:sp>
        <p:nvSpPr>
          <p:cNvPr id="18" name="Text 16"/>
          <p:cNvSpPr/>
          <p:nvPr/>
        </p:nvSpPr>
        <p:spPr>
          <a:xfrm>
            <a:off x="5522976" y="3145536"/>
            <a:ext cx="1719072" cy="1188720"/>
          </a:xfrm>
          <a:prstGeom prst="rect">
            <a:avLst/>
          </a:prstGeom>
          <a:noFill/>
          <a:ln/>
        </p:spPr>
        <p:txBody>
          <a:bodyPr wrap="square" lIns="0" tIns="0" rIns="0" bIns="0" rtlCol="0" anchor="t"/>
          <a:lstStyle/>
          <a:p>
            <a:pPr indent="0" marL="0">
              <a:buNone/>
            </a:pPr>
            <a:r>
              <a:rPr lang="en-US" sz="1250" dirty="0">
                <a:solidFill>
                  <a:srgbClr val="1B2733"/>
                </a:solidFill>
                <a:latin typeface="Calibri" pitchFamily="34" charset="0"/>
                <a:ea typeface="Calibri" pitchFamily="34" charset="-122"/>
                <a:cs typeface="Calibri" pitchFamily="34" charset="-120"/>
              </a:rPr>
              <a:t>Read-only SQL on DuckDB, or a tidymodels fit.</a:t>
            </a:r>
            <a:endParaRPr lang="en-US" sz="1250" dirty="0"/>
          </a:p>
        </p:txBody>
      </p:sp>
      <p:sp>
        <p:nvSpPr>
          <p:cNvPr id="19" name="Shape 17"/>
          <p:cNvSpPr/>
          <p:nvPr/>
        </p:nvSpPr>
        <p:spPr>
          <a:xfrm>
            <a:off x="7680960" y="1828800"/>
            <a:ext cx="2121408" cy="2331720"/>
          </a:xfrm>
          <a:prstGeom prst="roundRect">
            <a:avLst>
              <a:gd name="adj" fmla="val 2155"/>
            </a:avLst>
          </a:prstGeom>
          <a:solidFill>
            <a:srgbClr val="F3F5F8"/>
          </a:solidFill>
          <a:ln w="12700">
            <a:solidFill>
              <a:srgbClr val="F3F5F8"/>
            </a:solidFill>
            <a:prstDash val="solid"/>
          </a:ln>
        </p:spPr>
      </p:sp>
      <p:sp>
        <p:nvSpPr>
          <p:cNvPr id="20" name="Shape 18"/>
          <p:cNvSpPr/>
          <p:nvPr/>
        </p:nvSpPr>
        <p:spPr>
          <a:xfrm>
            <a:off x="7882128" y="2048256"/>
            <a:ext cx="548640" cy="548640"/>
          </a:xfrm>
          <a:prstGeom prst="roundRect">
            <a:avLst>
              <a:gd name="adj" fmla="val 23333"/>
            </a:avLst>
          </a:prstGeom>
          <a:solidFill>
            <a:srgbClr val="56B4E9"/>
          </a:solidFill>
          <a:ln w="12700">
            <a:solidFill>
              <a:srgbClr val="56B4E9"/>
            </a:solidFill>
            <a:prstDash val="solid"/>
          </a:ln>
        </p:spPr>
      </p:sp>
      <p:sp>
        <p:nvSpPr>
          <p:cNvPr id="21" name="Text 19"/>
          <p:cNvSpPr/>
          <p:nvPr/>
        </p:nvSpPr>
        <p:spPr>
          <a:xfrm>
            <a:off x="7882128" y="2048256"/>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4</a:t>
            </a:r>
            <a:endParaRPr lang="en-US" sz="1500" dirty="0"/>
          </a:p>
        </p:txBody>
      </p:sp>
      <p:sp>
        <p:nvSpPr>
          <p:cNvPr id="22" name="Text 20"/>
          <p:cNvSpPr/>
          <p:nvPr/>
        </p:nvSpPr>
        <p:spPr>
          <a:xfrm>
            <a:off x="7882128" y="2743200"/>
            <a:ext cx="1719072" cy="365760"/>
          </a:xfrm>
          <a:prstGeom prst="rect">
            <a:avLst/>
          </a:prstGeom>
          <a:noFill/>
          <a:ln/>
        </p:spPr>
        <p:txBody>
          <a:bodyPr wrap="square" lIns="0" tIns="0" rIns="0" bIns="0" rtlCol="0" anchor="t"/>
          <a:lstStyle/>
          <a:p>
            <a:pPr indent="0" marL="0">
              <a:buNone/>
            </a:pPr>
            <a:r>
              <a:rPr lang="en-US" sz="1500" b="1" dirty="0">
                <a:solidFill>
                  <a:srgbClr val="16283C"/>
                </a:solidFill>
                <a:latin typeface="Calibri" pitchFamily="34" charset="0"/>
                <a:ea typeface="Calibri" pitchFamily="34" charset="-122"/>
                <a:cs typeface="Calibri" pitchFamily="34" charset="-120"/>
              </a:rPr>
              <a:t>Panes rebuild</a:t>
            </a:r>
            <a:endParaRPr lang="en-US" sz="1500" dirty="0"/>
          </a:p>
        </p:txBody>
      </p:sp>
      <p:sp>
        <p:nvSpPr>
          <p:cNvPr id="23" name="Text 21"/>
          <p:cNvSpPr/>
          <p:nvPr/>
        </p:nvSpPr>
        <p:spPr>
          <a:xfrm>
            <a:off x="7882128" y="3145536"/>
            <a:ext cx="1719072" cy="1188720"/>
          </a:xfrm>
          <a:prstGeom prst="rect">
            <a:avLst/>
          </a:prstGeom>
          <a:noFill/>
          <a:ln/>
        </p:spPr>
        <p:txBody>
          <a:bodyPr wrap="square" lIns="0" tIns="0" rIns="0" bIns="0" rtlCol="0" anchor="t"/>
          <a:lstStyle/>
          <a:p>
            <a:pPr indent="0" marL="0">
              <a:buNone/>
            </a:pPr>
            <a:r>
              <a:rPr lang="en-US" sz="1250" dirty="0">
                <a:solidFill>
                  <a:srgbClr val="1B2733"/>
                </a:solidFill>
                <a:latin typeface="Calibri" pitchFamily="34" charset="0"/>
                <a:ea typeface="Calibri" pitchFamily="34" charset="-122"/>
                <a:cs typeface="Calibri" pitchFamily="34" charset="-120"/>
              </a:rPr>
              <a:t>Chart, SQL and code all come from one recipe.</a:t>
            </a:r>
            <a:endParaRPr lang="en-US" sz="1250" dirty="0"/>
          </a:p>
        </p:txBody>
      </p:sp>
      <p:sp>
        <p:nvSpPr>
          <p:cNvPr id="24" name="Shape 22"/>
          <p:cNvSpPr/>
          <p:nvPr/>
        </p:nvSpPr>
        <p:spPr>
          <a:xfrm>
            <a:off x="10040112" y="1828800"/>
            <a:ext cx="2121408" cy="2331720"/>
          </a:xfrm>
          <a:prstGeom prst="roundRect">
            <a:avLst>
              <a:gd name="adj" fmla="val 2155"/>
            </a:avLst>
          </a:prstGeom>
          <a:solidFill>
            <a:srgbClr val="F3F5F8"/>
          </a:solidFill>
          <a:ln w="12700">
            <a:solidFill>
              <a:srgbClr val="F3F5F8"/>
            </a:solidFill>
            <a:prstDash val="solid"/>
          </a:ln>
        </p:spPr>
      </p:sp>
      <p:sp>
        <p:nvSpPr>
          <p:cNvPr id="25" name="Shape 23"/>
          <p:cNvSpPr/>
          <p:nvPr/>
        </p:nvSpPr>
        <p:spPr>
          <a:xfrm>
            <a:off x="10241280" y="2048256"/>
            <a:ext cx="548640" cy="548640"/>
          </a:xfrm>
          <a:prstGeom prst="roundRect">
            <a:avLst>
              <a:gd name="adj" fmla="val 23333"/>
            </a:avLst>
          </a:prstGeom>
          <a:solidFill>
            <a:srgbClr val="E69F00"/>
          </a:solidFill>
          <a:ln w="12700">
            <a:solidFill>
              <a:srgbClr val="E69F00"/>
            </a:solidFill>
            <a:prstDash val="solid"/>
          </a:ln>
        </p:spPr>
      </p:sp>
      <p:sp>
        <p:nvSpPr>
          <p:cNvPr id="26" name="Text 24"/>
          <p:cNvSpPr/>
          <p:nvPr/>
        </p:nvSpPr>
        <p:spPr>
          <a:xfrm>
            <a:off x="10241280" y="2048256"/>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5</a:t>
            </a:r>
            <a:endParaRPr lang="en-US" sz="1500" dirty="0"/>
          </a:p>
        </p:txBody>
      </p:sp>
      <p:sp>
        <p:nvSpPr>
          <p:cNvPr id="27" name="Text 25"/>
          <p:cNvSpPr/>
          <p:nvPr/>
        </p:nvSpPr>
        <p:spPr>
          <a:xfrm>
            <a:off x="10241280" y="2743200"/>
            <a:ext cx="1719072" cy="365760"/>
          </a:xfrm>
          <a:prstGeom prst="rect">
            <a:avLst/>
          </a:prstGeom>
          <a:noFill/>
          <a:ln/>
        </p:spPr>
        <p:txBody>
          <a:bodyPr wrap="square" lIns="0" tIns="0" rIns="0" bIns="0" rtlCol="0" anchor="t"/>
          <a:lstStyle/>
          <a:p>
            <a:pPr indent="0" marL="0">
              <a:buNone/>
            </a:pPr>
            <a:r>
              <a:rPr lang="en-US" sz="1500" b="1" dirty="0">
                <a:solidFill>
                  <a:srgbClr val="16283C"/>
                </a:solidFill>
                <a:latin typeface="Calibri" pitchFamily="34" charset="0"/>
                <a:ea typeface="Calibri" pitchFamily="34" charset="-122"/>
                <a:cs typeface="Calibri" pitchFamily="34" charset="-120"/>
              </a:rPr>
              <a:t>Model explains</a:t>
            </a:r>
            <a:endParaRPr lang="en-US" sz="1500" dirty="0"/>
          </a:p>
        </p:txBody>
      </p:sp>
      <p:sp>
        <p:nvSpPr>
          <p:cNvPr id="28" name="Text 26"/>
          <p:cNvSpPr/>
          <p:nvPr/>
        </p:nvSpPr>
        <p:spPr>
          <a:xfrm>
            <a:off x="10241280" y="3145536"/>
            <a:ext cx="1719072" cy="1188720"/>
          </a:xfrm>
          <a:prstGeom prst="rect">
            <a:avLst/>
          </a:prstGeom>
          <a:noFill/>
          <a:ln/>
        </p:spPr>
        <p:txBody>
          <a:bodyPr wrap="square" lIns="0" tIns="0" rIns="0" bIns="0" rtlCol="0" anchor="t"/>
          <a:lstStyle/>
          <a:p>
            <a:pPr indent="0" marL="0">
              <a:buNone/>
            </a:pPr>
            <a:r>
              <a:rPr lang="en-US" sz="1250" dirty="0">
                <a:solidFill>
                  <a:srgbClr val="1B2733"/>
                </a:solidFill>
                <a:latin typeface="Calibri" pitchFamily="34" charset="0"/>
                <a:ea typeface="Calibri" pitchFamily="34" charset="-122"/>
                <a:cs typeface="Calibri" pitchFamily="34" charset="-120"/>
              </a:rPr>
              <a:t>It reads the numbers R returned, then answers.</a:t>
            </a:r>
            <a:endParaRPr lang="en-US" sz="1250" dirty="0"/>
          </a:p>
        </p:txBody>
      </p:sp>
      <p:sp>
        <p:nvSpPr>
          <p:cNvPr id="29" name="Shape 27"/>
          <p:cNvSpPr/>
          <p:nvPr/>
        </p:nvSpPr>
        <p:spPr>
          <a:xfrm>
            <a:off x="603504" y="4617720"/>
            <a:ext cx="10936224" cy="1325880"/>
          </a:xfrm>
          <a:prstGeom prst="roundRect">
            <a:avLst>
              <a:gd name="adj" fmla="val 3448"/>
            </a:avLst>
          </a:prstGeom>
          <a:solidFill>
            <a:srgbClr val="16283C"/>
          </a:solidFill>
          <a:ln w="12700">
            <a:solidFill>
              <a:srgbClr val="16283C"/>
            </a:solidFill>
            <a:prstDash val="solid"/>
          </a:ln>
        </p:spPr>
      </p:sp>
      <p:sp>
        <p:nvSpPr>
          <p:cNvPr id="30" name="Text 28"/>
          <p:cNvSpPr/>
          <p:nvPr/>
        </p:nvSpPr>
        <p:spPr>
          <a:xfrm>
            <a:off x="868680" y="4754880"/>
            <a:ext cx="10424160" cy="1051560"/>
          </a:xfrm>
          <a:prstGeom prst="rect">
            <a:avLst/>
          </a:prstGeom>
          <a:noFill/>
          <a:ln/>
        </p:spPr>
        <p:txBody>
          <a:bodyPr wrap="square" lIns="0" tIns="0" rIns="0" bIns="0" rtlCol="0" anchor="ctr"/>
          <a:lstStyle/>
          <a:p>
            <a:pPr indent="0" marL="0">
              <a:buNone/>
            </a:pPr>
            <a:r>
              <a:rPr lang="en-US" sz="1350" b="1" dirty="0">
                <a:solidFill>
                  <a:srgbClr val="E69F00"/>
                </a:solidFill>
                <a:latin typeface="Calibri" pitchFamily="34" charset="0"/>
                <a:ea typeface="Calibri" pitchFamily="34" charset="-122"/>
                <a:cs typeface="Calibri" pitchFamily="34" charset="-120"/>
              </a:rPr>
              <a:t>Why it matters:  </a:t>
            </a:r>
            <a:pPr indent="0" marL="0">
              <a:buNone/>
            </a:pPr>
            <a:r>
              <a:rPr lang="en-US" sz="1350" dirty="0">
                <a:solidFill>
                  <a:srgbClr val="FFFFFF"/>
                </a:solidFill>
                <a:latin typeface="Calibri" pitchFamily="34" charset="0"/>
                <a:ea typeface="Calibri" pitchFamily="34" charset="-122"/>
                <a:cs typeface="Calibri" pitchFamily="34" charset="-120"/>
              </a:rPr>
              <a:t>if the model skipped the tool and just wrote prose, the chart on screen and the answer in the chat could disagree. One tool call per turn means the panes and the explanation are always describing the same computation.</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algn="l" indent="0" marL="0">
              <a:buNone/>
            </a:pPr>
            <a:r>
              <a:rPr lang="en-US" sz="3200" b="1" dirty="0">
                <a:solidFill>
                  <a:srgbClr val="16283C"/>
                </a:solidFill>
                <a:latin typeface="Cambria" pitchFamily="34" charset="0"/>
                <a:ea typeface="Cambria" pitchFamily="34" charset="-122"/>
                <a:cs typeface="Cambria" pitchFamily="34" charset="-120"/>
              </a:rPr>
              <a:t>The dataset: midwest</a:t>
            </a:r>
            <a:endParaRPr lang="en-US" sz="3200" dirty="0"/>
          </a:p>
        </p:txBody>
      </p:sp>
      <p:sp>
        <p:nvSpPr>
          <p:cNvPr id="3" name="Text 1"/>
          <p:cNvSpPr/>
          <p:nvPr/>
        </p:nvSpPr>
        <p:spPr>
          <a:xfrm>
            <a:off x="566928" y="1033272"/>
            <a:ext cx="11064240" cy="310896"/>
          </a:xfrm>
          <a:prstGeom prst="rect">
            <a:avLst/>
          </a:prstGeom>
          <a:noFill/>
          <a:ln/>
        </p:spPr>
        <p:txBody>
          <a:bodyPr wrap="square" lIns="0" tIns="0" rIns="0" bIns="0" rtlCol="0" anchor="ctr"/>
          <a:lstStyle/>
          <a:p>
            <a:pPr algn="l" indent="0" marL="0">
              <a:buNone/>
            </a:pPr>
            <a:r>
              <a:rPr lang="en-US" sz="1300" i="1" dirty="0">
                <a:solidFill>
                  <a:srgbClr val="68788A"/>
                </a:solidFill>
                <a:latin typeface="Calibri" pitchFamily="34" charset="0"/>
                <a:ea typeface="Calibri" pitchFamily="34" charset="-122"/>
                <a:cs typeface="Calibri" pitchFamily="34" charset="-120"/>
              </a:rPr>
              <a:t>Picked from the sidebar — nothing about the app was tuned for it</a:t>
            </a:r>
            <a:endParaRPr lang="en-US" sz="1300" dirty="0"/>
          </a:p>
        </p:txBody>
      </p:sp>
      <p:sp>
        <p:nvSpPr>
          <p:cNvPr id="4" name="Shape 2"/>
          <p:cNvSpPr/>
          <p:nvPr/>
        </p:nvSpPr>
        <p:spPr>
          <a:xfrm>
            <a:off x="548640" y="1600200"/>
            <a:ext cx="2377440" cy="1170432"/>
          </a:xfrm>
          <a:prstGeom prst="roundRect">
            <a:avLst>
              <a:gd name="adj" fmla="val 3906"/>
            </a:avLst>
          </a:prstGeom>
          <a:solidFill>
            <a:srgbClr val="F3F5F8"/>
          </a:solidFill>
          <a:ln w="12700">
            <a:solidFill>
              <a:srgbClr val="F3F5F8"/>
            </a:solidFill>
            <a:prstDash val="solid"/>
          </a:ln>
        </p:spPr>
      </p:sp>
      <p:sp>
        <p:nvSpPr>
          <p:cNvPr id="5" name="Text 3"/>
          <p:cNvSpPr/>
          <p:nvPr/>
        </p:nvSpPr>
        <p:spPr>
          <a:xfrm>
            <a:off x="713232" y="1673352"/>
            <a:ext cx="2048256" cy="621792"/>
          </a:xfrm>
          <a:prstGeom prst="rect">
            <a:avLst/>
          </a:prstGeom>
          <a:noFill/>
          <a:ln/>
        </p:spPr>
        <p:txBody>
          <a:bodyPr wrap="square" lIns="0" tIns="0" rIns="0" bIns="0" rtlCol="0" anchor="ctr"/>
          <a:lstStyle/>
          <a:p>
            <a:pPr algn="l" indent="0" marL="0">
              <a:buNone/>
            </a:pPr>
            <a:r>
              <a:rPr lang="en-US" sz="3000" b="1" dirty="0">
                <a:solidFill>
                  <a:srgbClr val="16283C"/>
                </a:solidFill>
                <a:latin typeface="Cambria" pitchFamily="34" charset="0"/>
                <a:ea typeface="Cambria" pitchFamily="34" charset="-122"/>
                <a:cs typeface="Cambria" pitchFamily="34" charset="-120"/>
              </a:rPr>
              <a:t>437</a:t>
            </a:r>
            <a:endParaRPr lang="en-US" sz="3000" dirty="0"/>
          </a:p>
        </p:txBody>
      </p:sp>
      <p:sp>
        <p:nvSpPr>
          <p:cNvPr id="6" name="Text 4"/>
          <p:cNvSpPr/>
          <p:nvPr/>
        </p:nvSpPr>
        <p:spPr>
          <a:xfrm>
            <a:off x="713232" y="2276856"/>
            <a:ext cx="2048256" cy="402336"/>
          </a:xfrm>
          <a:prstGeom prst="rect">
            <a:avLst/>
          </a:prstGeom>
          <a:noFill/>
          <a:ln/>
        </p:spPr>
        <p:txBody>
          <a:bodyPr wrap="square" lIns="0" tIns="0" rIns="0" bIns="0" rtlCol="0" anchor="t"/>
          <a:lstStyle/>
          <a:p>
            <a:pPr algn="l" indent="0" marL="0">
              <a:buNone/>
            </a:pPr>
            <a:r>
              <a:rPr lang="en-US" sz="1100" dirty="0">
                <a:solidFill>
                  <a:srgbClr val="68788A"/>
                </a:solidFill>
                <a:latin typeface="Calibri" pitchFamily="34" charset="0"/>
                <a:ea typeface="Calibri" pitchFamily="34" charset="-122"/>
                <a:cs typeface="Calibri" pitchFamily="34" charset="-120"/>
              </a:rPr>
              <a:t>counties, one row each</a:t>
            </a:r>
            <a:endParaRPr lang="en-US" sz="1100" dirty="0"/>
          </a:p>
        </p:txBody>
      </p:sp>
      <p:sp>
        <p:nvSpPr>
          <p:cNvPr id="7" name="Shape 5"/>
          <p:cNvSpPr/>
          <p:nvPr/>
        </p:nvSpPr>
        <p:spPr>
          <a:xfrm>
            <a:off x="3063240" y="1600200"/>
            <a:ext cx="2377440" cy="1170432"/>
          </a:xfrm>
          <a:prstGeom prst="roundRect">
            <a:avLst>
              <a:gd name="adj" fmla="val 3906"/>
            </a:avLst>
          </a:prstGeom>
          <a:solidFill>
            <a:srgbClr val="F3F5F8"/>
          </a:solidFill>
          <a:ln w="12700">
            <a:solidFill>
              <a:srgbClr val="F3F5F8"/>
            </a:solidFill>
            <a:prstDash val="solid"/>
          </a:ln>
        </p:spPr>
      </p:sp>
      <p:sp>
        <p:nvSpPr>
          <p:cNvPr id="8" name="Text 6"/>
          <p:cNvSpPr/>
          <p:nvPr/>
        </p:nvSpPr>
        <p:spPr>
          <a:xfrm>
            <a:off x="3227832" y="1673352"/>
            <a:ext cx="2048256" cy="621792"/>
          </a:xfrm>
          <a:prstGeom prst="rect">
            <a:avLst/>
          </a:prstGeom>
          <a:noFill/>
          <a:ln/>
        </p:spPr>
        <p:txBody>
          <a:bodyPr wrap="square" lIns="0" tIns="0" rIns="0" bIns="0" rtlCol="0" anchor="ctr"/>
          <a:lstStyle/>
          <a:p>
            <a:pPr algn="l" indent="0" marL="0">
              <a:buNone/>
            </a:pPr>
            <a:r>
              <a:rPr lang="en-US" sz="3000" b="1" dirty="0">
                <a:solidFill>
                  <a:srgbClr val="0072B2"/>
                </a:solidFill>
                <a:latin typeface="Cambria" pitchFamily="34" charset="0"/>
                <a:ea typeface="Cambria" pitchFamily="34" charset="-122"/>
                <a:cs typeface="Cambria" pitchFamily="34" charset="-120"/>
              </a:rPr>
              <a:t>5</a:t>
            </a:r>
            <a:endParaRPr lang="en-US" sz="3000" dirty="0"/>
          </a:p>
        </p:txBody>
      </p:sp>
      <p:sp>
        <p:nvSpPr>
          <p:cNvPr id="9" name="Text 7"/>
          <p:cNvSpPr/>
          <p:nvPr/>
        </p:nvSpPr>
        <p:spPr>
          <a:xfrm>
            <a:off x="3227832" y="2276856"/>
            <a:ext cx="2048256" cy="402336"/>
          </a:xfrm>
          <a:prstGeom prst="rect">
            <a:avLst/>
          </a:prstGeom>
          <a:noFill/>
          <a:ln/>
        </p:spPr>
        <p:txBody>
          <a:bodyPr wrap="square" lIns="0" tIns="0" rIns="0" bIns="0" rtlCol="0" anchor="t"/>
          <a:lstStyle/>
          <a:p>
            <a:pPr algn="l" indent="0" marL="0">
              <a:buNone/>
            </a:pPr>
            <a:r>
              <a:rPr lang="en-US" sz="1100" dirty="0">
                <a:solidFill>
                  <a:srgbClr val="68788A"/>
                </a:solidFill>
                <a:latin typeface="Calibri" pitchFamily="34" charset="0"/>
                <a:ea typeface="Calibri" pitchFamily="34" charset="-122"/>
                <a:cs typeface="Calibri" pitchFamily="34" charset="-120"/>
              </a:rPr>
              <a:t>states: IL, IN, MI, OH, WI</a:t>
            </a:r>
            <a:endParaRPr lang="en-US" sz="1100" dirty="0"/>
          </a:p>
        </p:txBody>
      </p:sp>
      <p:sp>
        <p:nvSpPr>
          <p:cNvPr id="10" name="Shape 8"/>
          <p:cNvSpPr/>
          <p:nvPr/>
        </p:nvSpPr>
        <p:spPr>
          <a:xfrm>
            <a:off x="548640" y="2926080"/>
            <a:ext cx="2377440" cy="1170432"/>
          </a:xfrm>
          <a:prstGeom prst="roundRect">
            <a:avLst>
              <a:gd name="adj" fmla="val 3906"/>
            </a:avLst>
          </a:prstGeom>
          <a:solidFill>
            <a:srgbClr val="F3F5F8"/>
          </a:solidFill>
          <a:ln w="12700">
            <a:solidFill>
              <a:srgbClr val="F3F5F8"/>
            </a:solidFill>
            <a:prstDash val="solid"/>
          </a:ln>
        </p:spPr>
      </p:sp>
      <p:sp>
        <p:nvSpPr>
          <p:cNvPr id="11" name="Text 9"/>
          <p:cNvSpPr/>
          <p:nvPr/>
        </p:nvSpPr>
        <p:spPr>
          <a:xfrm>
            <a:off x="713232" y="2999232"/>
            <a:ext cx="2048256" cy="621792"/>
          </a:xfrm>
          <a:prstGeom prst="rect">
            <a:avLst/>
          </a:prstGeom>
          <a:noFill/>
          <a:ln/>
        </p:spPr>
        <p:txBody>
          <a:bodyPr wrap="square" lIns="0" tIns="0" rIns="0" bIns="0" rtlCol="0" anchor="ctr"/>
          <a:lstStyle/>
          <a:p>
            <a:pPr algn="l" indent="0" marL="0">
              <a:buNone/>
            </a:pPr>
            <a:r>
              <a:rPr lang="en-US" sz="3000" b="1" dirty="0">
                <a:solidFill>
                  <a:srgbClr val="009E73"/>
                </a:solidFill>
                <a:latin typeface="Cambria" pitchFamily="34" charset="0"/>
                <a:ea typeface="Cambria" pitchFamily="34" charset="-122"/>
                <a:cs typeface="Cambria" pitchFamily="34" charset="-120"/>
              </a:rPr>
              <a:t>28</a:t>
            </a:r>
            <a:endParaRPr lang="en-US" sz="3000" dirty="0"/>
          </a:p>
        </p:txBody>
      </p:sp>
      <p:sp>
        <p:nvSpPr>
          <p:cNvPr id="12" name="Text 10"/>
          <p:cNvSpPr/>
          <p:nvPr/>
        </p:nvSpPr>
        <p:spPr>
          <a:xfrm>
            <a:off x="713232" y="3602736"/>
            <a:ext cx="2048256" cy="402336"/>
          </a:xfrm>
          <a:prstGeom prst="rect">
            <a:avLst/>
          </a:prstGeom>
          <a:noFill/>
          <a:ln/>
        </p:spPr>
        <p:txBody>
          <a:bodyPr wrap="square" lIns="0" tIns="0" rIns="0" bIns="0" rtlCol="0" anchor="t"/>
          <a:lstStyle/>
          <a:p>
            <a:pPr algn="l" indent="0" marL="0">
              <a:buNone/>
            </a:pPr>
            <a:r>
              <a:rPr lang="en-US" sz="1100" dirty="0">
                <a:solidFill>
                  <a:srgbClr val="68788A"/>
                </a:solidFill>
                <a:latin typeface="Calibri" pitchFamily="34" charset="0"/>
                <a:ea typeface="Calibri" pitchFamily="34" charset="-122"/>
                <a:cs typeface="Calibri" pitchFamily="34" charset="-120"/>
              </a:rPr>
              <a:t>columns of demographics</a:t>
            </a:r>
            <a:endParaRPr lang="en-US" sz="1100" dirty="0"/>
          </a:p>
        </p:txBody>
      </p:sp>
      <p:sp>
        <p:nvSpPr>
          <p:cNvPr id="13" name="Shape 11"/>
          <p:cNvSpPr/>
          <p:nvPr/>
        </p:nvSpPr>
        <p:spPr>
          <a:xfrm>
            <a:off x="3063240" y="2926080"/>
            <a:ext cx="2377440" cy="1170432"/>
          </a:xfrm>
          <a:prstGeom prst="roundRect">
            <a:avLst>
              <a:gd name="adj" fmla="val 3906"/>
            </a:avLst>
          </a:prstGeom>
          <a:solidFill>
            <a:srgbClr val="F3F5F8"/>
          </a:solidFill>
          <a:ln w="12700">
            <a:solidFill>
              <a:srgbClr val="F3F5F8"/>
            </a:solidFill>
            <a:prstDash val="solid"/>
          </a:ln>
        </p:spPr>
      </p:sp>
      <p:sp>
        <p:nvSpPr>
          <p:cNvPr id="14" name="Text 12"/>
          <p:cNvSpPr/>
          <p:nvPr/>
        </p:nvSpPr>
        <p:spPr>
          <a:xfrm>
            <a:off x="3227832" y="2999232"/>
            <a:ext cx="2048256" cy="621792"/>
          </a:xfrm>
          <a:prstGeom prst="rect">
            <a:avLst/>
          </a:prstGeom>
          <a:noFill/>
          <a:ln/>
        </p:spPr>
        <p:txBody>
          <a:bodyPr wrap="square" lIns="0" tIns="0" rIns="0" bIns="0" rtlCol="0" anchor="ctr"/>
          <a:lstStyle/>
          <a:p>
            <a:pPr algn="l" indent="0" marL="0">
              <a:buNone/>
            </a:pPr>
            <a:r>
              <a:rPr lang="en-US" sz="3000" b="1" dirty="0">
                <a:solidFill>
                  <a:srgbClr val="E69F00"/>
                </a:solidFill>
                <a:latin typeface="Cambria" pitchFamily="34" charset="0"/>
                <a:ea typeface="Cambria" pitchFamily="34" charset="-122"/>
                <a:cs typeface="Cambria" pitchFamily="34" charset="-120"/>
              </a:rPr>
              <a:t>0</a:t>
            </a:r>
            <a:endParaRPr lang="en-US" sz="3000" dirty="0"/>
          </a:p>
        </p:txBody>
      </p:sp>
      <p:sp>
        <p:nvSpPr>
          <p:cNvPr id="15" name="Text 13"/>
          <p:cNvSpPr/>
          <p:nvPr/>
        </p:nvSpPr>
        <p:spPr>
          <a:xfrm>
            <a:off x="3227832" y="3602736"/>
            <a:ext cx="2048256" cy="402336"/>
          </a:xfrm>
          <a:prstGeom prst="rect">
            <a:avLst/>
          </a:prstGeom>
          <a:noFill/>
          <a:ln/>
        </p:spPr>
        <p:txBody>
          <a:bodyPr wrap="square" lIns="0" tIns="0" rIns="0" bIns="0" rtlCol="0" anchor="t"/>
          <a:lstStyle/>
          <a:p>
            <a:pPr algn="l" indent="0" marL="0">
              <a:buNone/>
            </a:pPr>
            <a:r>
              <a:rPr lang="en-US" sz="1100" dirty="0">
                <a:solidFill>
                  <a:srgbClr val="68788A"/>
                </a:solidFill>
                <a:latin typeface="Calibri" pitchFamily="34" charset="0"/>
                <a:ea typeface="Calibri" pitchFamily="34" charset="-122"/>
                <a:cs typeface="Calibri" pitchFamily="34" charset="-120"/>
              </a:rPr>
              <a:t>lines of schema hardcoding</a:t>
            </a:r>
            <a:endParaRPr lang="en-US" sz="1100" dirty="0"/>
          </a:p>
        </p:txBody>
      </p:sp>
      <p:sp>
        <p:nvSpPr>
          <p:cNvPr id="16" name="Text 14"/>
          <p:cNvSpPr/>
          <p:nvPr/>
        </p:nvSpPr>
        <p:spPr>
          <a:xfrm>
            <a:off x="548640" y="4343400"/>
            <a:ext cx="4892040" cy="1920240"/>
          </a:xfrm>
          <a:prstGeom prst="rect">
            <a:avLst/>
          </a:prstGeom>
          <a:noFill/>
          <a:ln/>
        </p:spPr>
        <p:txBody>
          <a:bodyPr wrap="square" lIns="0" tIns="0" rIns="0" bIns="0" rtlCol="0" anchor="t"/>
          <a:lstStyle/>
          <a:p>
            <a:pPr marL="342900" indent="-342900">
              <a:lnSpc>
                <a:spcPts val="1664"/>
              </a:lnSpc>
              <a:spcAft>
                <a:spcPts val="900"/>
              </a:spcAft>
              <a:buSzPct val="100000"/>
              <a:buChar char="•"/>
            </a:pPr>
            <a:r>
              <a:rPr lang="en-US" sz="1300" dirty="0">
                <a:solidFill>
                  <a:srgbClr val="1B2733"/>
                </a:solidFill>
                <a:latin typeface="Calibri" pitchFamily="34" charset="0"/>
                <a:ea typeface="Calibri" pitchFamily="34" charset="-122"/>
                <a:cs typeface="Calibri" pitchFamily="34" charset="-120"/>
              </a:rPr>
              <a:t>The sidebar also ships penguins, mpg, diamonds, mtcars, iris, economics, txhousing and storms — or drop in your own CSV or Parquet.</a:t>
            </a:r>
            <a:endParaRPr lang="en-US" sz="1300" dirty="0"/>
          </a:p>
          <a:p>
            <a:pPr marL="342900" indent="-342900">
              <a:lnSpc>
                <a:spcPts val="1664"/>
              </a:lnSpc>
              <a:spcAft>
                <a:spcPts val="900"/>
              </a:spcAft>
              <a:buSzPct val="100000"/>
              <a:buChar char="•"/>
            </a:pPr>
            <a:r>
              <a:rPr lang="en-US" sz="1300" dirty="0">
                <a:solidFill>
                  <a:srgbClr val="1B2733"/>
                </a:solidFill>
                <a:latin typeface="Calibri" pitchFamily="34" charset="0"/>
                <a:ea typeface="Calibri" pitchFamily="34" charset="-122"/>
                <a:cs typeface="Calibri" pitchFamily="34" charset="-120"/>
              </a:rPr>
              <a:t>Whatever you load becomes the DuckDB table named data, and the profile is rebuilt from scratch.</a:t>
            </a:r>
            <a:endParaRPr lang="en-US" sz="1300" dirty="0"/>
          </a:p>
        </p:txBody>
      </p:sp>
      <p:pic>
        <p:nvPicPr>
          <p:cNvPr id="17" name="Image 0" descr="/home/claude/deck/img/shot0.jpg">    </p:cNvPr>
          <p:cNvPicPr>
            <a:picLocks noChangeAspect="1"/>
          </p:cNvPicPr>
          <p:nvPr/>
        </p:nvPicPr>
        <p:blipFill>
          <a:blip r:embed="rId1"/>
          <a:stretch>
            <a:fillRect/>
          </a:stretch>
        </p:blipFill>
        <p:spPr>
          <a:xfrm>
            <a:off x="5806440" y="1572768"/>
            <a:ext cx="5852160" cy="4133088"/>
          </a:xfrm>
          <a:prstGeom prst="rect">
            <a:avLst/>
          </a:prstGeom>
          <a:effectLst>
            <a:outerShdw sx="100000" sy="100000" kx="0" ky="0" algn="bl" rotWithShape="0" blurRad="177800" dist="38100" dir="5400000">
              <a:srgbClr val="000000">
                <a:alpha val="20000"/>
              </a:srgbClr>
            </a:outerShdw>
          </a:effectLst>
        </p:spPr>
      </p:pic>
      <p:sp>
        <p:nvSpPr>
          <p:cNvPr id="18" name="Text 15"/>
          <p:cNvSpPr/>
          <p:nvPr/>
        </p:nvSpPr>
        <p:spPr>
          <a:xfrm>
            <a:off x="5806440" y="5806440"/>
            <a:ext cx="5852160" cy="457200"/>
          </a:xfrm>
          <a:prstGeom prst="rect">
            <a:avLst/>
          </a:prstGeom>
          <a:noFill/>
          <a:ln/>
        </p:spPr>
        <p:txBody>
          <a:bodyPr wrap="square" lIns="0" tIns="0" rIns="0" bIns="0" rtlCol="0" anchor="ctr"/>
          <a:lstStyle/>
          <a:p>
            <a:pPr indent="0" marL="0">
              <a:buNone/>
            </a:pPr>
            <a:r>
              <a:rPr lang="en-US" sz="1100" i="1" dirty="0">
                <a:solidFill>
                  <a:srgbClr val="68788A"/>
                </a:solidFill>
                <a:latin typeface="Calibri" pitchFamily="34" charset="0"/>
                <a:ea typeface="Calibri" pitchFamily="34" charset="-122"/>
                <a:cs typeface="Calibri" pitchFamily="34" charset="-120"/>
              </a:rPr>
              <a:t>Explore page on load: chat left, featured chart centre, SQL and ggplot2 right.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algn="l" indent="0" marL="0">
              <a:buNone/>
            </a:pPr>
            <a:r>
              <a:rPr lang="en-US" sz="3200" b="1" dirty="0">
                <a:solidFill>
                  <a:srgbClr val="16283C"/>
                </a:solidFill>
                <a:latin typeface="Cambria" pitchFamily="34" charset="0"/>
                <a:ea typeface="Cambria" pitchFamily="34" charset="-122"/>
                <a:cs typeface="Cambria" pitchFamily="34" charset="-120"/>
              </a:rPr>
              <a:t>Explore: one question, three synced answers</a:t>
            </a:r>
            <a:endParaRPr lang="en-US" sz="3200" dirty="0"/>
          </a:p>
        </p:txBody>
      </p:sp>
      <p:sp>
        <p:nvSpPr>
          <p:cNvPr id="3" name="Text 1"/>
          <p:cNvSpPr/>
          <p:nvPr/>
        </p:nvSpPr>
        <p:spPr>
          <a:xfrm>
            <a:off x="566928" y="1033272"/>
            <a:ext cx="11064240" cy="310896"/>
          </a:xfrm>
          <a:prstGeom prst="rect">
            <a:avLst/>
          </a:prstGeom>
          <a:noFill/>
          <a:ln/>
        </p:spPr>
        <p:txBody>
          <a:bodyPr wrap="square" lIns="0" tIns="0" rIns="0" bIns="0" rtlCol="0" anchor="ctr"/>
          <a:lstStyle/>
          <a:p>
            <a:pPr algn="l" indent="0" marL="0">
              <a:buNone/>
            </a:pPr>
            <a:r>
              <a:rPr lang="en-US" sz="1300" i="1" dirty="0">
                <a:solidFill>
                  <a:srgbClr val="68788A"/>
                </a:solidFill>
                <a:latin typeface="Calibri" pitchFamily="34" charset="0"/>
                <a:ea typeface="Calibri" pitchFamily="34" charset="-122"/>
                <a:cs typeface="Calibri" pitchFamily="34" charset="-120"/>
              </a:rPr>
              <a:t>“Update the dashboard: average percent college-educated by state, as a bar chart”</a:t>
            </a:r>
            <a:endParaRPr lang="en-US" sz="1300" dirty="0"/>
          </a:p>
        </p:txBody>
      </p:sp>
      <p:pic>
        <p:nvPicPr>
          <p:cNvPr id="4" name="Image 0" descr="/home/claude/deck/img/shot1.jpg">    </p:cNvPr>
          <p:cNvPicPr>
            <a:picLocks noChangeAspect="1"/>
          </p:cNvPicPr>
          <p:nvPr/>
        </p:nvPicPr>
        <p:blipFill>
          <a:blip r:embed="rId1"/>
          <a:stretch>
            <a:fillRect/>
          </a:stretch>
        </p:blipFill>
        <p:spPr>
          <a:xfrm>
            <a:off x="4160520" y="1481328"/>
            <a:ext cx="7498080" cy="5294376"/>
          </a:xfrm>
          <a:prstGeom prst="rect">
            <a:avLst/>
          </a:prstGeom>
          <a:effectLst>
            <a:outerShdw sx="100000" sy="100000" kx="0" ky="0" algn="bl" rotWithShape="0" blurRad="177800" dist="38100" dir="5400000">
              <a:srgbClr val="000000">
                <a:alpha val="20000"/>
              </a:srgbClr>
            </a:outerShdw>
          </a:effectLst>
        </p:spPr>
      </p:pic>
      <p:sp>
        <p:nvSpPr>
          <p:cNvPr id="5" name="Shape 2"/>
          <p:cNvSpPr/>
          <p:nvPr/>
        </p:nvSpPr>
        <p:spPr>
          <a:xfrm>
            <a:off x="548640" y="1536192"/>
            <a:ext cx="1097280" cy="292608"/>
          </a:xfrm>
          <a:prstGeom prst="roundRect">
            <a:avLst>
              <a:gd name="adj" fmla="val 18750"/>
            </a:avLst>
          </a:prstGeom>
          <a:solidFill>
            <a:srgbClr val="16283C"/>
          </a:solidFill>
          <a:ln w="12700">
            <a:solidFill>
              <a:srgbClr val="16283C"/>
            </a:solidFill>
            <a:prstDash val="solid"/>
          </a:ln>
        </p:spPr>
      </p:sp>
      <p:sp>
        <p:nvSpPr>
          <p:cNvPr id="6" name="Text 3"/>
          <p:cNvSpPr/>
          <p:nvPr/>
        </p:nvSpPr>
        <p:spPr>
          <a:xfrm>
            <a:off x="548640" y="1536192"/>
            <a:ext cx="1097280" cy="292608"/>
          </a:xfrm>
          <a:prstGeom prst="rect">
            <a:avLst/>
          </a:prstGeom>
          <a:noFill/>
          <a:ln/>
        </p:spPr>
        <p:txBody>
          <a:bodyPr wrap="square" lIns="0" tIns="0" rIns="0" bIns="0" rtlCol="0" anchor="ctr"/>
          <a:lstStyle/>
          <a:p>
            <a:pPr algn="ctr" indent="0" marL="0">
              <a:buNone/>
            </a:pPr>
            <a:r>
              <a:rPr lang="en-US" sz="1000" b="1" spc="100" kern="0" dirty="0">
                <a:solidFill>
                  <a:srgbClr val="E69F00"/>
                </a:solidFill>
                <a:latin typeface="Courier New" pitchFamily="34" charset="0"/>
                <a:ea typeface="Courier New" pitchFamily="34" charset="-122"/>
                <a:cs typeface="Courier New" pitchFamily="34" charset="-120"/>
              </a:rPr>
              <a:t>ASKED</a:t>
            </a:r>
            <a:endParaRPr lang="en-US" sz="1000" dirty="0"/>
          </a:p>
        </p:txBody>
      </p:sp>
      <p:sp>
        <p:nvSpPr>
          <p:cNvPr id="7" name="Text 4"/>
          <p:cNvSpPr/>
          <p:nvPr/>
        </p:nvSpPr>
        <p:spPr>
          <a:xfrm>
            <a:off x="548640" y="1965960"/>
            <a:ext cx="3383280" cy="4572000"/>
          </a:xfrm>
          <a:prstGeom prst="rect">
            <a:avLst/>
          </a:prstGeom>
          <a:noFill/>
          <a:ln/>
        </p:spPr>
        <p:txBody>
          <a:bodyPr wrap="square" lIns="0" tIns="0" rIns="0" bIns="0" rtlCol="0" anchor="t"/>
          <a:lstStyle/>
          <a:p>
            <a:pPr marL="342900" indent="-342900">
              <a:lnSpc>
                <a:spcPts val="1664"/>
              </a:lnSpc>
              <a:spcAft>
                <a:spcPts val="900"/>
              </a:spcAft>
              <a:buSzPct val="100000"/>
              <a:buChar char="•"/>
            </a:pPr>
            <a:r>
              <a:rPr lang="en-US" sz="1300" dirty="0">
                <a:solidFill>
                  <a:srgbClr val="1B2733"/>
                </a:solidFill>
                <a:latin typeface="Calibri" pitchFamily="34" charset="0"/>
                <a:ea typeface="Calibri" pitchFamily="34" charset="-122"/>
                <a:cs typeface="Calibri" pitchFamily="34" charset="-120"/>
              </a:rPr>
              <a:t>The model wrote the SQL — GROUP BY state, AVG(percollege), ordered descending.</a:t>
            </a:r>
            <a:endParaRPr lang="en-US" sz="1300" dirty="0"/>
          </a:p>
          <a:p>
            <a:pPr marL="342900" indent="-342900">
              <a:lnSpc>
                <a:spcPts val="1664"/>
              </a:lnSpc>
              <a:spcAft>
                <a:spcPts val="900"/>
              </a:spcAft>
              <a:buSzPct val="100000"/>
              <a:buChar char="•"/>
            </a:pPr>
            <a:r>
              <a:rPr lang="en-US" sz="1300" dirty="0">
                <a:solidFill>
                  <a:srgbClr val="1B2733"/>
                </a:solidFill>
                <a:latin typeface="Calibri" pitchFamily="34" charset="0"/>
                <a:ea typeface="Calibri" pitchFamily="34" charset="-122"/>
                <a:cs typeface="Calibri" pitchFamily="34" charset="-120"/>
              </a:rPr>
              <a:t>R ran it read-only against DuckDB and rebuilt the chart.</a:t>
            </a:r>
            <a:endParaRPr lang="en-US" sz="1300" dirty="0"/>
          </a:p>
          <a:p>
            <a:pPr marL="342900" indent="-342900">
              <a:lnSpc>
                <a:spcPts val="1664"/>
              </a:lnSpc>
              <a:spcAft>
                <a:spcPts val="900"/>
              </a:spcAft>
              <a:buSzPct val="100000"/>
              <a:buChar char="•"/>
            </a:pPr>
            <a:r>
              <a:rPr lang="en-US" sz="1300" dirty="0">
                <a:solidFill>
                  <a:srgbClr val="1B2733"/>
                </a:solidFill>
                <a:latin typeface="Calibri" pitchFamily="34" charset="0"/>
                <a:ea typeface="Calibri" pitchFamily="34" charset="-122"/>
                <a:cs typeface="Calibri" pitchFamily="34" charset="-120"/>
              </a:rPr>
              <a:t>The answer in the chat quotes the same numbers you can read off the bars: WI 20.02%, MI 19.42%, IL 18.79%.</a:t>
            </a:r>
            <a:endParaRPr lang="en-US" sz="1300" dirty="0"/>
          </a:p>
          <a:p>
            <a:pPr marL="342900" indent="-342900">
              <a:lnSpc>
                <a:spcPts val="1664"/>
              </a:lnSpc>
              <a:spcAft>
                <a:spcPts val="900"/>
              </a:spcAft>
              <a:buSzPct val="100000"/>
              <a:buChar char="•"/>
            </a:pPr>
            <a:r>
              <a:rPr lang="en-US" sz="1300" dirty="0">
                <a:solidFill>
                  <a:srgbClr val="1B2733"/>
                </a:solidFill>
                <a:latin typeface="Calibri" pitchFamily="34" charset="0"/>
                <a:ea typeface="Calibri" pitchFamily="34" charset="-122"/>
                <a:cs typeface="Calibri" pitchFamily="34" charset="-120"/>
              </a:rPr>
              <a:t>Nothing about “college-educated” was mapped by hand — percollege was found in the profile.</a:t>
            </a:r>
            <a:endParaRPr lang="en-US" sz="1300" dirty="0"/>
          </a:p>
        </p:txBody>
      </p:sp>
      <p:sp>
        <p:nvSpPr>
          <p:cNvPr id="8" name="Text 5"/>
          <p:cNvSpPr/>
          <p:nvPr/>
        </p:nvSpPr>
        <p:spPr>
          <a:xfrm>
            <a:off x="548640" y="5166360"/>
            <a:ext cx="3383280" cy="1188720"/>
          </a:xfrm>
          <a:prstGeom prst="rect">
            <a:avLst/>
          </a:prstGeom>
          <a:noFill/>
          <a:ln/>
        </p:spPr>
        <p:txBody>
          <a:bodyPr wrap="square" lIns="0" tIns="0" rIns="0" bIns="0" rtlCol="0" anchor="t"/>
          <a:lstStyle/>
          <a:p>
            <a:pPr indent="0" marL="0">
              <a:buNone/>
            </a:pPr>
            <a:r>
              <a:rPr lang="en-US" sz="1200" i="1" dirty="0">
                <a:solidFill>
                  <a:srgbClr val="68788A"/>
                </a:solidFill>
                <a:latin typeface="Calibri" pitchFamily="34" charset="0"/>
                <a:ea typeface="Calibri" pitchFamily="34" charset="-122"/>
                <a:cs typeface="Calibri" pitchFamily="34" charset="-120"/>
              </a:rPr>
              <a:t>Worth showing live: the first question in that transcript was answered from a query without redrawing. Saying “update the dashboard” made it fire the tool properly.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algn="l" indent="0" marL="0">
              <a:buNone/>
            </a:pPr>
            <a:r>
              <a:rPr lang="en-US" sz="3200" b="1" dirty="0">
                <a:solidFill>
                  <a:srgbClr val="16283C"/>
                </a:solidFill>
                <a:latin typeface="Cambria" pitchFamily="34" charset="0"/>
                <a:ea typeface="Cambria" pitchFamily="34" charset="-122"/>
                <a:cs typeface="Cambria" pitchFamily="34" charset="-120"/>
              </a:rPr>
              <a:t>The chart and the code cannot drift apart</a:t>
            </a:r>
            <a:endParaRPr lang="en-US" sz="3200" dirty="0"/>
          </a:p>
        </p:txBody>
      </p:sp>
      <p:sp>
        <p:nvSpPr>
          <p:cNvPr id="3" name="Text 1"/>
          <p:cNvSpPr/>
          <p:nvPr/>
        </p:nvSpPr>
        <p:spPr>
          <a:xfrm>
            <a:off x="566928" y="1033272"/>
            <a:ext cx="11064240" cy="310896"/>
          </a:xfrm>
          <a:prstGeom prst="rect">
            <a:avLst/>
          </a:prstGeom>
          <a:noFill/>
          <a:ln/>
        </p:spPr>
        <p:txBody>
          <a:bodyPr wrap="square" lIns="0" tIns="0" rIns="0" bIns="0" rtlCol="0" anchor="ctr"/>
          <a:lstStyle/>
          <a:p>
            <a:pPr algn="l" indent="0" marL="0">
              <a:buNone/>
            </a:pPr>
            <a:r>
              <a:rPr lang="en-US" sz="1300" i="1" dirty="0">
                <a:solidFill>
                  <a:srgbClr val="68788A"/>
                </a:solidFill>
                <a:latin typeface="Calibri" pitchFamily="34" charset="0"/>
                <a:ea typeface="Calibri" pitchFamily="34" charset="-122"/>
                <a:cs typeface="Calibri" pitchFamily="34" charset="-120"/>
              </a:rPr>
              <a:t>Both panes are rendered from a single plot recipe, so the code shown is the code that ran</a:t>
            </a:r>
            <a:endParaRPr lang="en-US" sz="1300" dirty="0"/>
          </a:p>
        </p:txBody>
      </p:sp>
      <p:pic>
        <p:nvPicPr>
          <p:cNvPr id="4" name="Image 0" descr="/home/claude/deck/img/s1_chart.jpg">    </p:cNvPr>
          <p:cNvPicPr>
            <a:picLocks noChangeAspect="1"/>
          </p:cNvPicPr>
          <p:nvPr/>
        </p:nvPicPr>
        <p:blipFill>
          <a:blip r:embed="rId1"/>
          <a:stretch>
            <a:fillRect/>
          </a:stretch>
        </p:blipFill>
        <p:spPr>
          <a:xfrm>
            <a:off x="548640" y="1463040"/>
            <a:ext cx="7178040" cy="4553712"/>
          </a:xfrm>
          <a:prstGeom prst="rect">
            <a:avLst/>
          </a:prstGeom>
          <a:effectLst>
            <a:outerShdw sx="100000" sy="100000" kx="0" ky="0" algn="bl" rotWithShape="0" blurRad="177800" dist="38100" dir="5400000">
              <a:srgbClr val="000000">
                <a:alpha val="20000"/>
              </a:srgbClr>
            </a:outerShdw>
          </a:effectLst>
        </p:spPr>
      </p:pic>
      <p:pic>
        <p:nvPicPr>
          <p:cNvPr id="5" name="Image 1" descr="/home/claude/deck/img/s1_sql.jpg">    </p:cNvPr>
          <p:cNvPicPr>
            <a:picLocks noChangeAspect="1"/>
          </p:cNvPicPr>
          <p:nvPr/>
        </p:nvPicPr>
        <p:blipFill>
          <a:blip r:embed="rId2"/>
          <a:stretch>
            <a:fillRect/>
          </a:stretch>
        </p:blipFill>
        <p:spPr>
          <a:xfrm>
            <a:off x="8092440" y="1463040"/>
            <a:ext cx="3017520" cy="1819656"/>
          </a:xfrm>
          <a:prstGeom prst="rect">
            <a:avLst/>
          </a:prstGeom>
          <a:effectLst>
            <a:outerShdw sx="100000" sy="100000" kx="0" ky="0" algn="bl" rotWithShape="0" blurRad="177800" dist="38100" dir="5400000">
              <a:srgbClr val="000000">
                <a:alpha val="20000"/>
              </a:srgbClr>
            </a:outerShdw>
          </a:effectLst>
        </p:spPr>
      </p:pic>
      <p:pic>
        <p:nvPicPr>
          <p:cNvPr id="6" name="Image 2" descr="/home/claude/deck/img/s1_gg.jpg">    </p:cNvPr>
          <p:cNvPicPr>
            <a:picLocks noChangeAspect="1"/>
          </p:cNvPicPr>
          <p:nvPr/>
        </p:nvPicPr>
        <p:blipFill>
          <a:blip r:embed="rId3"/>
          <a:stretch>
            <a:fillRect/>
          </a:stretch>
        </p:blipFill>
        <p:spPr>
          <a:xfrm>
            <a:off x="8092440" y="3429000"/>
            <a:ext cx="3017520" cy="2624328"/>
          </a:xfrm>
          <a:prstGeom prst="rect">
            <a:avLst/>
          </a:prstGeom>
          <a:effectLst>
            <a:outerShdw sx="100000" sy="100000" kx="0" ky="0" algn="bl" rotWithShape="0" blurRad="177800" dist="38100" dir="5400000">
              <a:srgbClr val="000000">
                <a:alpha val="20000"/>
              </a:srgbClr>
            </a:outerShdw>
          </a:effectLst>
        </p:spPr>
      </p:pic>
      <p:sp>
        <p:nvSpPr>
          <p:cNvPr id="7" name="Text 2"/>
          <p:cNvSpPr/>
          <p:nvPr/>
        </p:nvSpPr>
        <p:spPr>
          <a:xfrm>
            <a:off x="548640" y="6126480"/>
            <a:ext cx="7178040" cy="457200"/>
          </a:xfrm>
          <a:prstGeom prst="rect">
            <a:avLst/>
          </a:prstGeom>
          <a:noFill/>
          <a:ln/>
        </p:spPr>
        <p:txBody>
          <a:bodyPr wrap="square" lIns="0" tIns="0" rIns="0" bIns="0" rtlCol="0" anchor="t"/>
          <a:lstStyle/>
          <a:p>
            <a:pPr indent="0" marL="0">
              <a:buNone/>
            </a:pPr>
            <a:r>
              <a:rPr lang="en-US" sz="1200" i="1" dirty="0">
                <a:solidFill>
                  <a:srgbClr val="68788A"/>
                </a:solidFill>
                <a:latin typeface="Calibri" pitchFamily="34" charset="0"/>
                <a:ea typeface="Calibri" pitchFamily="34" charset="-122"/>
                <a:cs typeface="Calibri" pitchFamily="34" charset="-120"/>
              </a:rPr>
              <a:t>Copy the ggplot2 pane into your own script and you get this exact chart back — that is the whole point of the recipe.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algn="l" indent="0" marL="0">
              <a:buNone/>
            </a:pPr>
            <a:r>
              <a:rPr lang="en-US" sz="3200" b="1" dirty="0">
                <a:solidFill>
                  <a:srgbClr val="16283C"/>
                </a:solidFill>
                <a:latin typeface="Cambria" pitchFamily="34" charset="0"/>
                <a:ea typeface="Cambria" pitchFamily="34" charset="-122"/>
                <a:cs typeface="Cambria" pitchFamily="34" charset="-120"/>
              </a:rPr>
              <a:t>Ask for a relationship, not a chart type</a:t>
            </a:r>
            <a:endParaRPr lang="en-US" sz="3200" dirty="0"/>
          </a:p>
        </p:txBody>
      </p:sp>
      <p:sp>
        <p:nvSpPr>
          <p:cNvPr id="3" name="Text 1"/>
          <p:cNvSpPr/>
          <p:nvPr/>
        </p:nvSpPr>
        <p:spPr>
          <a:xfrm>
            <a:off x="566928" y="1033272"/>
            <a:ext cx="11064240" cy="310896"/>
          </a:xfrm>
          <a:prstGeom prst="rect">
            <a:avLst/>
          </a:prstGeom>
          <a:noFill/>
          <a:ln/>
        </p:spPr>
        <p:txBody>
          <a:bodyPr wrap="square" lIns="0" tIns="0" rIns="0" bIns="0" rtlCol="0" anchor="ctr"/>
          <a:lstStyle/>
          <a:p>
            <a:pPr algn="l" indent="0" marL="0">
              <a:buNone/>
            </a:pPr>
            <a:r>
              <a:rPr lang="en-US" sz="1300" i="1" dirty="0">
                <a:solidFill>
                  <a:srgbClr val="68788A"/>
                </a:solidFill>
                <a:latin typeface="Calibri" pitchFamily="34" charset="0"/>
                <a:ea typeface="Calibri" pitchFamily="34" charset="-122"/>
                <a:cs typeface="Calibri" pitchFamily="34" charset="-120"/>
              </a:rPr>
              <a:t>“Scatter of percent college-educated vs percent below poverty, colored by state, with a linear smooth”</a:t>
            </a:r>
            <a:endParaRPr lang="en-US" sz="1300" dirty="0"/>
          </a:p>
        </p:txBody>
      </p:sp>
      <p:pic>
        <p:nvPicPr>
          <p:cNvPr id="4" name="Image 0" descr="/home/claude/deck/img/s2_chart.jpg">    </p:cNvPr>
          <p:cNvPicPr>
            <a:picLocks noChangeAspect="1"/>
          </p:cNvPicPr>
          <p:nvPr/>
        </p:nvPicPr>
        <p:blipFill>
          <a:blip r:embed="rId1"/>
          <a:stretch>
            <a:fillRect/>
          </a:stretch>
        </p:blipFill>
        <p:spPr>
          <a:xfrm>
            <a:off x="4709160" y="1508760"/>
            <a:ext cx="6903720" cy="4379976"/>
          </a:xfrm>
          <a:prstGeom prst="rect">
            <a:avLst/>
          </a:prstGeom>
          <a:effectLst>
            <a:outerShdw sx="100000" sy="100000" kx="0" ky="0" algn="bl" rotWithShape="0" blurRad="177800" dist="38100" dir="5400000">
              <a:srgbClr val="000000">
                <a:alpha val="20000"/>
              </a:srgbClr>
            </a:outerShdw>
          </a:effectLst>
        </p:spPr>
      </p:pic>
      <p:sp>
        <p:nvSpPr>
          <p:cNvPr id="5" name="Shape 2"/>
          <p:cNvSpPr/>
          <p:nvPr/>
        </p:nvSpPr>
        <p:spPr>
          <a:xfrm>
            <a:off x="548640" y="1554480"/>
            <a:ext cx="1371600" cy="292608"/>
          </a:xfrm>
          <a:prstGeom prst="roundRect">
            <a:avLst>
              <a:gd name="adj" fmla="val 18750"/>
            </a:avLst>
          </a:prstGeom>
          <a:solidFill>
            <a:srgbClr val="16283C"/>
          </a:solidFill>
          <a:ln w="12700">
            <a:solidFill>
              <a:srgbClr val="16283C"/>
            </a:solidFill>
            <a:prstDash val="solid"/>
          </a:ln>
        </p:spPr>
      </p:sp>
      <p:sp>
        <p:nvSpPr>
          <p:cNvPr id="6" name="Text 3"/>
          <p:cNvSpPr/>
          <p:nvPr/>
        </p:nvSpPr>
        <p:spPr>
          <a:xfrm>
            <a:off x="548640" y="1554480"/>
            <a:ext cx="1371600" cy="292608"/>
          </a:xfrm>
          <a:prstGeom prst="rect">
            <a:avLst/>
          </a:prstGeom>
          <a:noFill/>
          <a:ln/>
        </p:spPr>
        <p:txBody>
          <a:bodyPr wrap="square" lIns="0" tIns="0" rIns="0" bIns="0" rtlCol="0" anchor="ctr"/>
          <a:lstStyle/>
          <a:p>
            <a:pPr algn="ctr" indent="0" marL="0">
              <a:buNone/>
            </a:pPr>
            <a:r>
              <a:rPr lang="en-US" sz="1000" b="1" spc="100" kern="0" dirty="0">
                <a:solidFill>
                  <a:srgbClr val="E69F00"/>
                </a:solidFill>
                <a:latin typeface="Courier New" pitchFamily="34" charset="0"/>
                <a:ea typeface="Courier New" pitchFamily="34" charset="-122"/>
                <a:cs typeface="Courier New" pitchFamily="34" charset="-120"/>
              </a:rPr>
              <a:t>2 · GGPLOT2</a:t>
            </a:r>
            <a:endParaRPr lang="en-US" sz="1000" dirty="0"/>
          </a:p>
        </p:txBody>
      </p:sp>
      <p:sp>
        <p:nvSpPr>
          <p:cNvPr id="7" name="Text 4"/>
          <p:cNvSpPr/>
          <p:nvPr/>
        </p:nvSpPr>
        <p:spPr>
          <a:xfrm>
            <a:off x="548640" y="2011680"/>
            <a:ext cx="3886200" cy="4023360"/>
          </a:xfrm>
          <a:prstGeom prst="rect">
            <a:avLst/>
          </a:prstGeom>
          <a:noFill/>
          <a:ln/>
        </p:spPr>
        <p:txBody>
          <a:bodyPr wrap="square" lIns="0" tIns="0" rIns="0" bIns="0" rtlCol="0" anchor="t"/>
          <a:lstStyle/>
          <a:p>
            <a:pPr marL="342900" indent="-342900">
              <a:lnSpc>
                <a:spcPts val="1664"/>
              </a:lnSpc>
              <a:spcAft>
                <a:spcPts val="900"/>
              </a:spcAft>
              <a:buSzPct val="100000"/>
              <a:buChar char="•"/>
            </a:pPr>
            <a:r>
              <a:rPr lang="en-US" sz="1300" dirty="0">
                <a:solidFill>
                  <a:srgbClr val="1B2733"/>
                </a:solidFill>
                <a:latin typeface="Calibri" pitchFamily="34" charset="0"/>
                <a:ea typeface="Calibri" pitchFamily="34" charset="-122"/>
                <a:cs typeface="Calibri" pitchFamily="34" charset="-120"/>
              </a:rPr>
              <a:t>geom_point + geom_smooth(method = "lm") with a per-state fit, all from one sentence.</a:t>
            </a:r>
            <a:endParaRPr lang="en-US" sz="1300" dirty="0"/>
          </a:p>
          <a:p>
            <a:pPr marL="342900" indent="-342900">
              <a:lnSpc>
                <a:spcPts val="1664"/>
              </a:lnSpc>
              <a:spcAft>
                <a:spcPts val="900"/>
              </a:spcAft>
              <a:buSzPct val="100000"/>
              <a:buChar char="•"/>
            </a:pPr>
            <a:r>
              <a:rPr lang="en-US" sz="1300" dirty="0">
                <a:solidFill>
                  <a:srgbClr val="1B2733"/>
                </a:solidFill>
                <a:latin typeface="Calibri" pitchFamily="34" charset="0"/>
                <a:ea typeface="Calibri" pitchFamily="34" charset="-122"/>
                <a:cs typeface="Calibri" pitchFamily="34" charset="-120"/>
              </a:rPr>
              <a:t>The palette is Okabe-Ito — colorblind-safe by default, not an afterthought.</a:t>
            </a:r>
            <a:endParaRPr lang="en-US" sz="1300" dirty="0"/>
          </a:p>
          <a:p>
            <a:pPr marL="342900" indent="-342900">
              <a:lnSpc>
                <a:spcPts val="1664"/>
              </a:lnSpc>
              <a:spcAft>
                <a:spcPts val="900"/>
              </a:spcAft>
              <a:buSzPct val="100000"/>
              <a:buChar char="•"/>
            </a:pPr>
            <a:r>
              <a:rPr lang="en-US" sz="1300" dirty="0">
                <a:solidFill>
                  <a:srgbClr val="1B2733"/>
                </a:solidFill>
                <a:latin typeface="Calibri" pitchFamily="34" charset="0"/>
                <a:ea typeface="Calibri" pitchFamily="34" charset="-122"/>
                <a:cs typeface="Calibri" pitchFamily="34" charset="-120"/>
              </a:rPr>
              <a:t>Theme, palette and highlight choices stick across turns, so the next question inherits them.</a:t>
            </a:r>
            <a:endParaRPr lang="en-US" sz="1300" dirty="0"/>
          </a:p>
          <a:p>
            <a:pPr marL="342900" indent="-342900">
              <a:lnSpc>
                <a:spcPts val="1664"/>
              </a:lnSpc>
              <a:spcAft>
                <a:spcPts val="900"/>
              </a:spcAft>
              <a:buSzPct val="100000"/>
              <a:buChar char="•"/>
            </a:pPr>
            <a:r>
              <a:rPr lang="en-US" sz="1300" dirty="0">
                <a:solidFill>
                  <a:srgbClr val="1B2733"/>
                </a:solidFill>
                <a:latin typeface="Calibri" pitchFamily="34" charset="0"/>
                <a:ea typeface="Calibri" pitchFamily="34" charset="-122"/>
                <a:cs typeface="Calibri" pitchFamily="34" charset="-120"/>
              </a:rPr>
              <a:t>Flip on Interactive (Plotly) in the sidebar and the same recipe renders with hover and zoom.</a:t>
            </a:r>
            <a:endParaRPr lang="en-US" sz="1300" dirty="0"/>
          </a:p>
        </p:txBody>
      </p:sp>
      <p:sp>
        <p:nvSpPr>
          <p:cNvPr id="8" name="Text 5"/>
          <p:cNvSpPr/>
          <p:nvPr/>
        </p:nvSpPr>
        <p:spPr>
          <a:xfrm>
            <a:off x="548640" y="5532120"/>
            <a:ext cx="3886200" cy="822960"/>
          </a:xfrm>
          <a:prstGeom prst="rect">
            <a:avLst/>
          </a:prstGeom>
          <a:noFill/>
          <a:ln/>
        </p:spPr>
        <p:txBody>
          <a:bodyPr wrap="square" lIns="0" tIns="0" rIns="0" bIns="0" rtlCol="0" anchor="t"/>
          <a:lstStyle/>
          <a:p>
            <a:pPr indent="0" marL="0">
              <a:buNone/>
            </a:pPr>
            <a:r>
              <a:rPr lang="en-US" sz="1200" i="1" dirty="0">
                <a:solidFill>
                  <a:srgbClr val="68788A"/>
                </a:solidFill>
                <a:latin typeface="Calibri" pitchFamily="34" charset="0"/>
                <a:ea typeface="Calibri" pitchFamily="34" charset="-122"/>
                <a:cs typeface="Calibri" pitchFamily="34" charset="-120"/>
              </a:rPr>
              <a:t>Reading: counties with more college-educated adults have lower poverty — a clear negative slope in every state.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283C"/>
        </a:solidFill>
      </p:bgPr>
    </p:bg>
    <p:spTree>
      <p:nvGrpSpPr>
        <p:cNvPr id="1" name=""/>
        <p:cNvGrpSpPr/>
        <p:nvPr/>
      </p:nvGrpSpPr>
      <p:grpSpPr>
        <a:xfrm>
          <a:off x="0" y="0"/>
          <a:ext cx="0" cy="0"/>
          <a:chOff x="0" y="0"/>
          <a:chExt cx="0" cy="0"/>
        </a:xfrm>
      </p:grpSpPr>
      <p:sp>
        <p:nvSpPr>
          <p:cNvPr id="2" name="Shape 0"/>
          <p:cNvSpPr/>
          <p:nvPr/>
        </p:nvSpPr>
        <p:spPr>
          <a:xfrm>
            <a:off x="822960" y="2148840"/>
            <a:ext cx="1371600" cy="292608"/>
          </a:xfrm>
          <a:prstGeom prst="roundRect">
            <a:avLst>
              <a:gd name="adj" fmla="val 18750"/>
            </a:avLst>
          </a:prstGeom>
          <a:solidFill>
            <a:srgbClr val="27405C"/>
          </a:solidFill>
          <a:ln w="12700">
            <a:solidFill>
              <a:srgbClr val="27405C"/>
            </a:solidFill>
            <a:prstDash val="solid"/>
          </a:ln>
        </p:spPr>
      </p:sp>
      <p:sp>
        <p:nvSpPr>
          <p:cNvPr id="3" name="Text 1"/>
          <p:cNvSpPr/>
          <p:nvPr/>
        </p:nvSpPr>
        <p:spPr>
          <a:xfrm>
            <a:off x="822960" y="2148840"/>
            <a:ext cx="1371600" cy="292608"/>
          </a:xfrm>
          <a:prstGeom prst="rect">
            <a:avLst/>
          </a:prstGeom>
          <a:noFill/>
          <a:ln/>
        </p:spPr>
        <p:txBody>
          <a:bodyPr wrap="square" lIns="0" tIns="0" rIns="0" bIns="0" rtlCol="0" anchor="ctr"/>
          <a:lstStyle/>
          <a:p>
            <a:pPr algn="ctr" indent="0" marL="0">
              <a:buNone/>
            </a:pPr>
            <a:r>
              <a:rPr lang="en-US" sz="1000" b="1" spc="100" kern="0" dirty="0">
                <a:solidFill>
                  <a:srgbClr val="E69F00"/>
                </a:solidFill>
                <a:latin typeface="Courier New" pitchFamily="34" charset="0"/>
                <a:ea typeface="Courier New" pitchFamily="34" charset="-122"/>
                <a:cs typeface="Courier New" pitchFamily="34" charset="-120"/>
              </a:rPr>
              <a:t>PAGE TWO</a:t>
            </a:r>
            <a:endParaRPr lang="en-US" sz="1000" dirty="0"/>
          </a:p>
        </p:txBody>
      </p:sp>
      <p:sp>
        <p:nvSpPr>
          <p:cNvPr id="4" name="Text 2"/>
          <p:cNvSpPr/>
          <p:nvPr/>
        </p:nvSpPr>
        <p:spPr>
          <a:xfrm>
            <a:off x="822960" y="2560320"/>
            <a:ext cx="7315200" cy="100584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Model</a:t>
            </a:r>
            <a:endParaRPr lang="en-US" sz="5200" dirty="0"/>
          </a:p>
        </p:txBody>
      </p:sp>
      <p:sp>
        <p:nvSpPr>
          <p:cNvPr id="5" name="Text 3"/>
          <p:cNvSpPr/>
          <p:nvPr/>
        </p:nvSpPr>
        <p:spPr>
          <a:xfrm>
            <a:off x="841248" y="3611880"/>
            <a:ext cx="7772400" cy="457200"/>
          </a:xfrm>
          <a:prstGeom prst="rect">
            <a:avLst/>
          </a:prstGeom>
          <a:noFill/>
          <a:ln/>
        </p:spPr>
        <p:txBody>
          <a:bodyPr wrap="square" lIns="0" tIns="0" rIns="0" bIns="0" rtlCol="0" anchor="ctr"/>
          <a:lstStyle/>
          <a:p>
            <a:pPr indent="0" marL="0">
              <a:buNone/>
            </a:pPr>
            <a:r>
              <a:rPr lang="en-US" sz="1800" dirty="0">
                <a:solidFill>
                  <a:srgbClr val="E69F00"/>
                </a:solidFill>
                <a:latin typeface="Calibri" pitchFamily="34" charset="0"/>
                <a:ea typeface="Calibri" pitchFamily="34" charset="-122"/>
                <a:cs typeface="Calibri" pitchFamily="34" charset="-120"/>
              </a:rPr>
              <a:t>A preview fit, not a production pipeline.</a:t>
            </a:r>
            <a:endParaRPr lang="en-US" sz="1800" dirty="0"/>
          </a:p>
        </p:txBody>
      </p:sp>
      <p:sp>
        <p:nvSpPr>
          <p:cNvPr id="6" name="Text 4"/>
          <p:cNvSpPr/>
          <p:nvPr/>
        </p:nvSpPr>
        <p:spPr>
          <a:xfrm>
            <a:off x="841248" y="4206240"/>
            <a:ext cx="8686800" cy="914400"/>
          </a:xfrm>
          <a:prstGeom prst="rect">
            <a:avLst/>
          </a:prstGeom>
          <a:noFill/>
          <a:ln/>
        </p:spPr>
        <p:txBody>
          <a:bodyPr wrap="square" lIns="0" tIns="0" rIns="0" bIns="0" rtlCol="0" anchor="t"/>
          <a:lstStyle/>
          <a:p>
            <a:pPr indent="0" marL="0">
              <a:lnSpc>
                <a:spcPts val="2000"/>
              </a:lnSpc>
              <a:buNone/>
            </a:pPr>
            <a:r>
              <a:rPr lang="en-US" sz="1200" dirty="0">
                <a:solidFill>
                  <a:srgbClr val="9FB4C9"/>
                </a:solidFill>
                <a:latin typeface="Courier New" pitchFamily="34" charset="0"/>
                <a:ea typeface="Courier New" pitchFamily="34" charset="-122"/>
                <a:cs typeface="Courier New" pitchFamily="34" charset="-120"/>
              </a:rPr>
              <a:t>Linear · logistic · Poisson · tree · forest · ridge · elastic net · GAM · forecast</a:t>
            </a:r>
            <a:endParaRPr lang="en-US" sz="1200" dirty="0"/>
          </a:p>
          <a:p>
            <a:pPr indent="0" marL="0">
              <a:lnSpc>
                <a:spcPts val="2000"/>
              </a:lnSpc>
              <a:buNone/>
            </a:pPr>
            <a:r>
              <a:rPr lang="en-US" sz="1200" dirty="0">
                <a:solidFill>
                  <a:srgbClr val="9FB4C9"/>
                </a:solidFill>
                <a:latin typeface="Courier New" pitchFamily="34" charset="0"/>
                <a:ea typeface="Courier New" pitchFamily="34" charset="-122"/>
                <a:cs typeface="Courier New" pitchFamily="34" charset="-120"/>
              </a:rPr>
              <a:t>t-test · ANOVA · chi-square · correlation · PCA · k-means · heatmap</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algn="l" indent="0" marL="0">
              <a:buNone/>
            </a:pPr>
            <a:r>
              <a:rPr lang="en-US" sz="3200" b="1" dirty="0">
                <a:solidFill>
                  <a:srgbClr val="16283C"/>
                </a:solidFill>
                <a:latin typeface="Cambria" pitchFamily="34" charset="0"/>
                <a:ea typeface="Cambria" pitchFamily="34" charset="-122"/>
                <a:cs typeface="Cambria" pitchFamily="34" charset="-120"/>
              </a:rPr>
              <a:t>Regression, checked against a named baseline</a:t>
            </a:r>
            <a:endParaRPr lang="en-US" sz="3200" dirty="0"/>
          </a:p>
        </p:txBody>
      </p:sp>
      <p:sp>
        <p:nvSpPr>
          <p:cNvPr id="3" name="Text 1"/>
          <p:cNvSpPr/>
          <p:nvPr/>
        </p:nvSpPr>
        <p:spPr>
          <a:xfrm>
            <a:off x="566928" y="1033272"/>
            <a:ext cx="11064240" cy="310896"/>
          </a:xfrm>
          <a:prstGeom prst="rect">
            <a:avLst/>
          </a:prstGeom>
          <a:noFill/>
          <a:ln/>
        </p:spPr>
        <p:txBody>
          <a:bodyPr wrap="square" lIns="0" tIns="0" rIns="0" bIns="0" rtlCol="0" anchor="ctr"/>
          <a:lstStyle/>
          <a:p>
            <a:pPr algn="l" indent="0" marL="0">
              <a:buNone/>
            </a:pPr>
            <a:r>
              <a:rPr lang="en-US" sz="1300" i="1" dirty="0">
                <a:solidFill>
                  <a:srgbClr val="68788A"/>
                </a:solidFill>
                <a:latin typeface="Calibri" pitchFamily="34" charset="0"/>
                <a:ea typeface="Calibri" pitchFamily="34" charset="-122"/>
                <a:cs typeface="Calibri" pitchFamily="34" charset="-120"/>
              </a:rPr>
              <a:t>“Predict percent below poverty from percent college-educated, population density, and metro status”</a:t>
            </a:r>
            <a:endParaRPr lang="en-US" sz="1300" dirty="0"/>
          </a:p>
        </p:txBody>
      </p:sp>
      <p:pic>
        <p:nvPicPr>
          <p:cNvPr id="4" name="Image 0" descr="/home/claude/deck/img/shot4.jpg">    </p:cNvPr>
          <p:cNvPicPr>
            <a:picLocks noChangeAspect="1"/>
          </p:cNvPicPr>
          <p:nvPr/>
        </p:nvPicPr>
        <p:blipFill>
          <a:blip r:embed="rId1"/>
          <a:stretch>
            <a:fillRect/>
          </a:stretch>
        </p:blipFill>
        <p:spPr>
          <a:xfrm>
            <a:off x="4480560" y="1481328"/>
            <a:ext cx="7178040" cy="5074920"/>
          </a:xfrm>
          <a:prstGeom prst="rect">
            <a:avLst/>
          </a:prstGeom>
          <a:effectLst>
            <a:outerShdw sx="100000" sy="100000" kx="0" ky="0" algn="bl" rotWithShape="0" blurRad="177800" dist="38100" dir="5400000">
              <a:srgbClr val="000000">
                <a:alpha val="20000"/>
              </a:srgbClr>
            </a:outerShdw>
          </a:effectLst>
        </p:spPr>
      </p:pic>
      <p:sp>
        <p:nvSpPr>
          <p:cNvPr id="5" name="Shape 2"/>
          <p:cNvSpPr/>
          <p:nvPr/>
        </p:nvSpPr>
        <p:spPr>
          <a:xfrm>
            <a:off x="548640" y="1536192"/>
            <a:ext cx="1783080" cy="1170432"/>
          </a:xfrm>
          <a:prstGeom prst="roundRect">
            <a:avLst>
              <a:gd name="adj" fmla="val 3906"/>
            </a:avLst>
          </a:prstGeom>
          <a:solidFill>
            <a:srgbClr val="F3F5F8"/>
          </a:solidFill>
          <a:ln w="12700">
            <a:solidFill>
              <a:srgbClr val="F3F5F8"/>
            </a:solidFill>
            <a:prstDash val="solid"/>
          </a:ln>
        </p:spPr>
      </p:sp>
      <p:sp>
        <p:nvSpPr>
          <p:cNvPr id="6" name="Text 3"/>
          <p:cNvSpPr/>
          <p:nvPr/>
        </p:nvSpPr>
        <p:spPr>
          <a:xfrm>
            <a:off x="713232" y="1609344"/>
            <a:ext cx="1453896" cy="621792"/>
          </a:xfrm>
          <a:prstGeom prst="rect">
            <a:avLst/>
          </a:prstGeom>
          <a:noFill/>
          <a:ln/>
        </p:spPr>
        <p:txBody>
          <a:bodyPr wrap="square" lIns="0" tIns="0" rIns="0" bIns="0" rtlCol="0" anchor="ctr"/>
          <a:lstStyle/>
          <a:p>
            <a:pPr algn="l" indent="0" marL="0">
              <a:buNone/>
            </a:pPr>
            <a:r>
              <a:rPr lang="en-US" sz="3000" b="1" dirty="0">
                <a:solidFill>
                  <a:srgbClr val="16283C"/>
                </a:solidFill>
                <a:latin typeface="Cambria" pitchFamily="34" charset="0"/>
                <a:ea typeface="Cambria" pitchFamily="34" charset="-122"/>
                <a:cs typeface="Cambria" pitchFamily="34" charset="-120"/>
              </a:rPr>
              <a:t>4.57</a:t>
            </a:r>
            <a:endParaRPr lang="en-US" sz="3000" dirty="0"/>
          </a:p>
        </p:txBody>
      </p:sp>
      <p:sp>
        <p:nvSpPr>
          <p:cNvPr id="7" name="Text 4"/>
          <p:cNvSpPr/>
          <p:nvPr/>
        </p:nvSpPr>
        <p:spPr>
          <a:xfrm>
            <a:off x="713232" y="2212848"/>
            <a:ext cx="1453896" cy="402336"/>
          </a:xfrm>
          <a:prstGeom prst="rect">
            <a:avLst/>
          </a:prstGeom>
          <a:noFill/>
          <a:ln/>
        </p:spPr>
        <p:txBody>
          <a:bodyPr wrap="square" lIns="0" tIns="0" rIns="0" bIns="0" rtlCol="0" anchor="t"/>
          <a:lstStyle/>
          <a:p>
            <a:pPr algn="l" indent="0" marL="0">
              <a:buNone/>
            </a:pPr>
            <a:r>
              <a:rPr lang="en-US" sz="1100" dirty="0">
                <a:solidFill>
                  <a:srgbClr val="68788A"/>
                </a:solidFill>
                <a:latin typeface="Calibri" pitchFamily="34" charset="0"/>
                <a:ea typeface="Calibri" pitchFamily="34" charset="-122"/>
                <a:cs typeface="Calibri" pitchFamily="34" charset="-120"/>
              </a:rPr>
              <a:t>holdout RMSE</a:t>
            </a:r>
            <a:endParaRPr lang="en-US" sz="1100" dirty="0"/>
          </a:p>
        </p:txBody>
      </p:sp>
      <p:sp>
        <p:nvSpPr>
          <p:cNvPr id="8" name="Shape 5"/>
          <p:cNvSpPr/>
          <p:nvPr/>
        </p:nvSpPr>
        <p:spPr>
          <a:xfrm>
            <a:off x="2450592" y="1536192"/>
            <a:ext cx="1783080" cy="1170432"/>
          </a:xfrm>
          <a:prstGeom prst="roundRect">
            <a:avLst>
              <a:gd name="adj" fmla="val 3906"/>
            </a:avLst>
          </a:prstGeom>
          <a:solidFill>
            <a:srgbClr val="F3F5F8"/>
          </a:solidFill>
          <a:ln w="12700">
            <a:solidFill>
              <a:srgbClr val="F3F5F8"/>
            </a:solidFill>
            <a:prstDash val="solid"/>
          </a:ln>
        </p:spPr>
      </p:sp>
      <p:sp>
        <p:nvSpPr>
          <p:cNvPr id="9" name="Text 6"/>
          <p:cNvSpPr/>
          <p:nvPr/>
        </p:nvSpPr>
        <p:spPr>
          <a:xfrm>
            <a:off x="2615184" y="1609344"/>
            <a:ext cx="1453896" cy="621792"/>
          </a:xfrm>
          <a:prstGeom prst="rect">
            <a:avLst/>
          </a:prstGeom>
          <a:noFill/>
          <a:ln/>
        </p:spPr>
        <p:txBody>
          <a:bodyPr wrap="square" lIns="0" tIns="0" rIns="0" bIns="0" rtlCol="0" anchor="ctr"/>
          <a:lstStyle/>
          <a:p>
            <a:pPr algn="l" indent="0" marL="0">
              <a:buNone/>
            </a:pPr>
            <a:r>
              <a:rPr lang="en-US" sz="3000" b="1" dirty="0">
                <a:solidFill>
                  <a:srgbClr val="68788A"/>
                </a:solidFill>
                <a:latin typeface="Cambria" pitchFamily="34" charset="0"/>
                <a:ea typeface="Cambria" pitchFamily="34" charset="-122"/>
                <a:cs typeface="Cambria" pitchFamily="34" charset="-120"/>
              </a:rPr>
              <a:t>4.58</a:t>
            </a:r>
            <a:endParaRPr lang="en-US" sz="3000" dirty="0"/>
          </a:p>
        </p:txBody>
      </p:sp>
      <p:sp>
        <p:nvSpPr>
          <p:cNvPr id="10" name="Text 7"/>
          <p:cNvSpPr/>
          <p:nvPr/>
        </p:nvSpPr>
        <p:spPr>
          <a:xfrm>
            <a:off x="2615184" y="2212848"/>
            <a:ext cx="1453896" cy="402336"/>
          </a:xfrm>
          <a:prstGeom prst="rect">
            <a:avLst/>
          </a:prstGeom>
          <a:noFill/>
          <a:ln/>
        </p:spPr>
        <p:txBody>
          <a:bodyPr wrap="square" lIns="0" tIns="0" rIns="0" bIns="0" rtlCol="0" anchor="t"/>
          <a:lstStyle/>
          <a:p>
            <a:pPr algn="l" indent="0" marL="0">
              <a:buNone/>
            </a:pPr>
            <a:r>
              <a:rPr lang="en-US" sz="1100" dirty="0">
                <a:solidFill>
                  <a:srgbClr val="68788A"/>
                </a:solidFill>
                <a:latin typeface="Calibri" pitchFamily="34" charset="0"/>
                <a:ea typeface="Calibri" pitchFamily="34" charset="-122"/>
                <a:cs typeface="Calibri" pitchFamily="34" charset="-120"/>
              </a:rPr>
              <a:t>baseline: train mean</a:t>
            </a:r>
            <a:endParaRPr lang="en-US" sz="1100" dirty="0"/>
          </a:p>
        </p:txBody>
      </p:sp>
      <p:sp>
        <p:nvSpPr>
          <p:cNvPr id="11" name="Text 8"/>
          <p:cNvSpPr/>
          <p:nvPr/>
        </p:nvSpPr>
        <p:spPr>
          <a:xfrm>
            <a:off x="548640" y="2880360"/>
            <a:ext cx="3685032" cy="356616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50" dirty="0">
                <a:solidFill>
                  <a:srgbClr val="1B2733"/>
                </a:solidFill>
                <a:latin typeface="Calibri" pitchFamily="34" charset="0"/>
                <a:ea typeface="Calibri" pitchFamily="34" charset="-122"/>
                <a:cs typeface="Calibri" pitchFamily="34" charset="-120"/>
              </a:rPr>
              <a:t>The model barely beats “just guess the average” — and it says so, out loud.</a:t>
            </a:r>
            <a:endParaRPr lang="en-US" sz="1250" dirty="0"/>
          </a:p>
          <a:p>
            <a:pPr marL="342900" indent="-342900">
              <a:lnSpc>
                <a:spcPts val="1600"/>
              </a:lnSpc>
              <a:spcAft>
                <a:spcPts val="900"/>
              </a:spcAft>
              <a:buSzPct val="100000"/>
              <a:buChar char="•"/>
            </a:pPr>
            <a:r>
              <a:rPr lang="en-US" sz="1250" dirty="0">
                <a:solidFill>
                  <a:srgbClr val="1B2733"/>
                </a:solidFill>
                <a:latin typeface="Calibri" pitchFamily="34" charset="0"/>
                <a:ea typeface="Calibri" pitchFamily="34" charset="-122"/>
                <a:cs typeface="Calibri" pitchFamily="34" charset="-120"/>
              </a:rPr>
              <a:t>That honesty is the feature. Without a named baseline, R² alone would have hidden it.</a:t>
            </a:r>
            <a:endParaRPr lang="en-US" sz="1250" dirty="0"/>
          </a:p>
          <a:p>
            <a:pPr marL="342900" indent="-342900">
              <a:lnSpc>
                <a:spcPts val="1600"/>
              </a:lnSpc>
              <a:spcAft>
                <a:spcPts val="900"/>
              </a:spcAft>
              <a:buSzPct val="100000"/>
              <a:buChar char="•"/>
            </a:pPr>
            <a:r>
              <a:rPr lang="en-US" sz="1250" dirty="0">
                <a:solidFill>
                  <a:srgbClr val="1B2733"/>
                </a:solidFill>
                <a:latin typeface="Calibri" pitchFamily="34" charset="0"/>
                <a:ea typeface="Calibri" pitchFamily="34" charset="-122"/>
                <a:cs typeface="Calibri" pitchFamily="34" charset="-120"/>
              </a:rPr>
              <a:t>The coefficients are still real: each extra point of college attainment is worth about 0.22 points less poverty (p &lt; 0.001).</a:t>
            </a:r>
            <a:endParaRPr lang="en-US" sz="1250" dirty="0"/>
          </a:p>
          <a:p>
            <a:pPr marL="342900" indent="-342900">
              <a:lnSpc>
                <a:spcPts val="1600"/>
              </a:lnSpc>
              <a:spcAft>
                <a:spcPts val="900"/>
              </a:spcAft>
              <a:buSzPct val="100000"/>
              <a:buChar char="•"/>
            </a:pPr>
            <a:r>
              <a:rPr lang="en-US" sz="1250" dirty="0">
                <a:solidFill>
                  <a:srgbClr val="1B2733"/>
                </a:solidFill>
                <a:latin typeface="Calibri" pitchFamily="34" charset="0"/>
                <a:ea typeface="Calibri" pitchFamily="34" charset="-122"/>
                <a:cs typeface="Calibri" pitchFamily="34" charset="-120"/>
              </a:rPr>
              <a:t>80/20 holdout, cross-validation on the training folds only.</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algn="l" indent="0" marL="0">
              <a:buNone/>
            </a:pPr>
            <a:r>
              <a:rPr lang="en-US" sz="3200" b="1" dirty="0">
                <a:solidFill>
                  <a:srgbClr val="16283C"/>
                </a:solidFill>
                <a:latin typeface="Cambria" pitchFamily="34" charset="0"/>
                <a:ea typeface="Cambria" pitchFamily="34" charset="-122"/>
                <a:cs typeface="Cambria" pitchFamily="34" charset="-120"/>
              </a:rPr>
              <a:t>Classification: the ROC curve, and what to compare it to</a:t>
            </a:r>
            <a:endParaRPr lang="en-US" sz="3200" dirty="0"/>
          </a:p>
        </p:txBody>
      </p:sp>
      <p:sp>
        <p:nvSpPr>
          <p:cNvPr id="3" name="Text 1"/>
          <p:cNvSpPr/>
          <p:nvPr/>
        </p:nvSpPr>
        <p:spPr>
          <a:xfrm>
            <a:off x="566928" y="1033272"/>
            <a:ext cx="11064240" cy="310896"/>
          </a:xfrm>
          <a:prstGeom prst="rect">
            <a:avLst/>
          </a:prstGeom>
          <a:noFill/>
          <a:ln/>
        </p:spPr>
        <p:txBody>
          <a:bodyPr wrap="square" lIns="0" tIns="0" rIns="0" bIns="0" rtlCol="0" anchor="ctr"/>
          <a:lstStyle/>
          <a:p>
            <a:pPr algn="l" indent="0" marL="0">
              <a:buNone/>
            </a:pPr>
            <a:r>
              <a:rPr lang="en-US" sz="1300" i="1" dirty="0">
                <a:solidFill>
                  <a:srgbClr val="68788A"/>
                </a:solidFill>
                <a:latin typeface="Calibri" pitchFamily="34" charset="0"/>
                <a:ea typeface="Calibri" pitchFamily="34" charset="-122"/>
                <a:cs typeface="Calibri" pitchFamily="34" charset="-120"/>
              </a:rPr>
              <a:t>“Classify whether a county is in a metro area, and show the ROC curve”</a:t>
            </a:r>
            <a:endParaRPr lang="en-US" sz="1300" dirty="0"/>
          </a:p>
        </p:txBody>
      </p:sp>
      <p:pic>
        <p:nvPicPr>
          <p:cNvPr id="4" name="Image 0" descr="/home/claude/deck/img/s5_roc.jpg">    </p:cNvPr>
          <p:cNvPicPr>
            <a:picLocks noChangeAspect="1"/>
          </p:cNvPicPr>
          <p:nvPr/>
        </p:nvPicPr>
        <p:blipFill>
          <a:blip r:embed="rId1"/>
          <a:stretch>
            <a:fillRect/>
          </a:stretch>
        </p:blipFill>
        <p:spPr>
          <a:xfrm>
            <a:off x="548640" y="1463040"/>
            <a:ext cx="5806440" cy="3520440"/>
          </a:xfrm>
          <a:prstGeom prst="rect">
            <a:avLst/>
          </a:prstGeom>
          <a:effectLst>
            <a:outerShdw sx="100000" sy="100000" kx="0" ky="0" algn="bl" rotWithShape="0" blurRad="177800" dist="38100" dir="5400000">
              <a:srgbClr val="000000">
                <a:alpha val="20000"/>
              </a:srgbClr>
            </a:outerShdw>
          </a:effectLst>
        </p:spPr>
      </p:pic>
      <p:pic>
        <p:nvPicPr>
          <p:cNvPr id="5" name="Image 1" descr="/home/claude/deck/img/s5_metrics.jpg">    </p:cNvPr>
          <p:cNvPicPr>
            <a:picLocks noChangeAspect="1"/>
          </p:cNvPicPr>
          <p:nvPr/>
        </p:nvPicPr>
        <p:blipFill>
          <a:blip r:embed="rId2"/>
          <a:stretch>
            <a:fillRect/>
          </a:stretch>
        </p:blipFill>
        <p:spPr>
          <a:xfrm>
            <a:off x="6629400" y="1463040"/>
            <a:ext cx="2880360" cy="3456432"/>
          </a:xfrm>
          <a:prstGeom prst="rect">
            <a:avLst/>
          </a:prstGeom>
          <a:effectLst>
            <a:outerShdw sx="100000" sy="100000" kx="0" ky="0" algn="bl" rotWithShape="0" blurRad="177800" dist="38100" dir="5400000">
              <a:srgbClr val="000000">
                <a:alpha val="20000"/>
              </a:srgbClr>
            </a:outerShdw>
          </a:effectLst>
        </p:spPr>
      </p:pic>
      <p:sp>
        <p:nvSpPr>
          <p:cNvPr id="6" name="Text 2"/>
          <p:cNvSpPr/>
          <p:nvPr/>
        </p:nvSpPr>
        <p:spPr>
          <a:xfrm>
            <a:off x="9692640" y="1463040"/>
            <a:ext cx="1965960" cy="3383280"/>
          </a:xfrm>
          <a:prstGeom prst="rect">
            <a:avLst/>
          </a:prstGeom>
          <a:noFill/>
          <a:ln/>
        </p:spPr>
        <p:txBody>
          <a:bodyPr wrap="square" lIns="0" tIns="0" rIns="0" bIns="0" rtlCol="0" anchor="t"/>
          <a:lstStyle/>
          <a:p>
            <a:pPr indent="0" marL="0">
              <a:buNone/>
            </a:pPr>
            <a:r>
              <a:rPr lang="en-US" sz="1200" i="1" dirty="0">
                <a:solidFill>
                  <a:srgbClr val="68788A"/>
                </a:solidFill>
                <a:latin typeface="Calibri" pitchFamily="34" charset="0"/>
                <a:ea typeface="Calibri" pitchFamily="34" charset="-122"/>
                <a:cs typeface="Calibri" pitchFamily="34" charset="-120"/>
              </a:rPr>
              <a:t>Every fit prints its call in the R pane, so you can lift it straight into a script.</a:t>
            </a:r>
            <a:endParaRPr lang="en-US" sz="1200" dirty="0"/>
          </a:p>
        </p:txBody>
      </p:sp>
      <p:sp>
        <p:nvSpPr>
          <p:cNvPr id="7" name="Shape 3"/>
          <p:cNvSpPr/>
          <p:nvPr/>
        </p:nvSpPr>
        <p:spPr>
          <a:xfrm>
            <a:off x="548640" y="5166360"/>
            <a:ext cx="3520440" cy="1170432"/>
          </a:xfrm>
          <a:prstGeom prst="roundRect">
            <a:avLst>
              <a:gd name="adj" fmla="val 3906"/>
            </a:avLst>
          </a:prstGeom>
          <a:solidFill>
            <a:srgbClr val="F3F5F8"/>
          </a:solidFill>
          <a:ln w="12700">
            <a:solidFill>
              <a:srgbClr val="F3F5F8"/>
            </a:solidFill>
            <a:prstDash val="solid"/>
          </a:ln>
        </p:spPr>
      </p:sp>
      <p:sp>
        <p:nvSpPr>
          <p:cNvPr id="8" name="Text 4"/>
          <p:cNvSpPr/>
          <p:nvPr/>
        </p:nvSpPr>
        <p:spPr>
          <a:xfrm>
            <a:off x="713232" y="5239512"/>
            <a:ext cx="3191256" cy="621792"/>
          </a:xfrm>
          <a:prstGeom prst="rect">
            <a:avLst/>
          </a:prstGeom>
          <a:noFill/>
          <a:ln/>
        </p:spPr>
        <p:txBody>
          <a:bodyPr wrap="square" lIns="0" tIns="0" rIns="0" bIns="0" rtlCol="0" anchor="ctr"/>
          <a:lstStyle/>
          <a:p>
            <a:pPr algn="l" indent="0" marL="0">
              <a:buNone/>
            </a:pPr>
            <a:r>
              <a:rPr lang="en-US" sz="3000" b="1" dirty="0">
                <a:solidFill>
                  <a:srgbClr val="009E73"/>
                </a:solidFill>
                <a:latin typeface="Cambria" pitchFamily="34" charset="0"/>
                <a:ea typeface="Cambria" pitchFamily="34" charset="-122"/>
                <a:cs typeface="Cambria" pitchFamily="34" charset="-120"/>
              </a:rPr>
              <a:t>0.937</a:t>
            </a:r>
            <a:endParaRPr lang="en-US" sz="3000" dirty="0"/>
          </a:p>
        </p:txBody>
      </p:sp>
      <p:sp>
        <p:nvSpPr>
          <p:cNvPr id="9" name="Text 5"/>
          <p:cNvSpPr/>
          <p:nvPr/>
        </p:nvSpPr>
        <p:spPr>
          <a:xfrm>
            <a:off x="713232" y="5843016"/>
            <a:ext cx="3191256" cy="402336"/>
          </a:xfrm>
          <a:prstGeom prst="rect">
            <a:avLst/>
          </a:prstGeom>
          <a:noFill/>
          <a:ln/>
        </p:spPr>
        <p:txBody>
          <a:bodyPr wrap="square" lIns="0" tIns="0" rIns="0" bIns="0" rtlCol="0" anchor="t"/>
          <a:lstStyle/>
          <a:p>
            <a:pPr algn="l" indent="0" marL="0">
              <a:buNone/>
            </a:pPr>
            <a:r>
              <a:rPr lang="en-US" sz="1100" dirty="0">
                <a:solidFill>
                  <a:srgbClr val="68788A"/>
                </a:solidFill>
                <a:latin typeface="Calibri" pitchFamily="34" charset="0"/>
                <a:ea typeface="Calibri" pitchFamily="34" charset="-122"/>
                <a:cs typeface="Calibri" pitchFamily="34" charset="-120"/>
              </a:rPr>
              <a:t>holdout AUC</a:t>
            </a:r>
            <a:endParaRPr lang="en-US" sz="1100" dirty="0"/>
          </a:p>
        </p:txBody>
      </p:sp>
      <p:sp>
        <p:nvSpPr>
          <p:cNvPr id="10" name="Shape 6"/>
          <p:cNvSpPr/>
          <p:nvPr/>
        </p:nvSpPr>
        <p:spPr>
          <a:xfrm>
            <a:off x="4251960" y="5166360"/>
            <a:ext cx="3520440" cy="1170432"/>
          </a:xfrm>
          <a:prstGeom prst="roundRect">
            <a:avLst>
              <a:gd name="adj" fmla="val 3906"/>
            </a:avLst>
          </a:prstGeom>
          <a:solidFill>
            <a:srgbClr val="F3F5F8"/>
          </a:solidFill>
          <a:ln w="12700">
            <a:solidFill>
              <a:srgbClr val="F3F5F8"/>
            </a:solidFill>
            <a:prstDash val="solid"/>
          </a:ln>
        </p:spPr>
      </p:sp>
      <p:sp>
        <p:nvSpPr>
          <p:cNvPr id="11" name="Text 7"/>
          <p:cNvSpPr/>
          <p:nvPr/>
        </p:nvSpPr>
        <p:spPr>
          <a:xfrm>
            <a:off x="4416552" y="5239512"/>
            <a:ext cx="3191256" cy="621792"/>
          </a:xfrm>
          <a:prstGeom prst="rect">
            <a:avLst/>
          </a:prstGeom>
          <a:noFill/>
          <a:ln/>
        </p:spPr>
        <p:txBody>
          <a:bodyPr wrap="square" lIns="0" tIns="0" rIns="0" bIns="0" rtlCol="0" anchor="ctr"/>
          <a:lstStyle/>
          <a:p>
            <a:pPr algn="l" indent="0" marL="0">
              <a:buNone/>
            </a:pPr>
            <a:r>
              <a:rPr lang="en-US" sz="3000" b="1" dirty="0">
                <a:solidFill>
                  <a:srgbClr val="68788A"/>
                </a:solidFill>
                <a:latin typeface="Cambria" pitchFamily="34" charset="0"/>
                <a:ea typeface="Cambria" pitchFamily="34" charset="-122"/>
                <a:cs typeface="Cambria" pitchFamily="34" charset="-120"/>
              </a:rPr>
              <a:t>0.659</a:t>
            </a:r>
            <a:endParaRPr lang="en-US" sz="3000" dirty="0"/>
          </a:p>
        </p:txBody>
      </p:sp>
      <p:sp>
        <p:nvSpPr>
          <p:cNvPr id="12" name="Text 8"/>
          <p:cNvSpPr/>
          <p:nvPr/>
        </p:nvSpPr>
        <p:spPr>
          <a:xfrm>
            <a:off x="4416552" y="5843016"/>
            <a:ext cx="3191256" cy="402336"/>
          </a:xfrm>
          <a:prstGeom prst="rect">
            <a:avLst/>
          </a:prstGeom>
          <a:noFill/>
          <a:ln/>
        </p:spPr>
        <p:txBody>
          <a:bodyPr wrap="square" lIns="0" tIns="0" rIns="0" bIns="0" rtlCol="0" anchor="t"/>
          <a:lstStyle/>
          <a:p>
            <a:pPr algn="l" indent="0" marL="0">
              <a:buNone/>
            </a:pPr>
            <a:r>
              <a:rPr lang="en-US" sz="1100" dirty="0">
                <a:solidFill>
                  <a:srgbClr val="68788A"/>
                </a:solidFill>
                <a:latin typeface="Calibri" pitchFamily="34" charset="0"/>
                <a:ea typeface="Calibri" pitchFamily="34" charset="-122"/>
                <a:cs typeface="Calibri" pitchFamily="34" charset="-120"/>
              </a:rPr>
              <a:t>baseline: always guess non-metro</a:t>
            </a:r>
            <a:endParaRPr lang="en-US" sz="1100" dirty="0"/>
          </a:p>
        </p:txBody>
      </p:sp>
      <p:sp>
        <p:nvSpPr>
          <p:cNvPr id="13" name="Shape 9"/>
          <p:cNvSpPr/>
          <p:nvPr/>
        </p:nvSpPr>
        <p:spPr>
          <a:xfrm>
            <a:off x="7955280" y="5166360"/>
            <a:ext cx="3703320" cy="1170432"/>
          </a:xfrm>
          <a:prstGeom prst="roundRect">
            <a:avLst>
              <a:gd name="adj" fmla="val 3906"/>
            </a:avLst>
          </a:prstGeom>
          <a:solidFill>
            <a:srgbClr val="F3F5F8"/>
          </a:solidFill>
          <a:ln w="12700">
            <a:solidFill>
              <a:srgbClr val="F3F5F8"/>
            </a:solidFill>
            <a:prstDash val="solid"/>
          </a:ln>
        </p:spPr>
      </p:sp>
      <p:sp>
        <p:nvSpPr>
          <p:cNvPr id="14" name="Text 10"/>
          <p:cNvSpPr/>
          <p:nvPr/>
        </p:nvSpPr>
        <p:spPr>
          <a:xfrm>
            <a:off x="8119872" y="5239512"/>
            <a:ext cx="3374136" cy="621792"/>
          </a:xfrm>
          <a:prstGeom prst="rect">
            <a:avLst/>
          </a:prstGeom>
          <a:noFill/>
          <a:ln/>
        </p:spPr>
        <p:txBody>
          <a:bodyPr wrap="square" lIns="0" tIns="0" rIns="0" bIns="0" rtlCol="0" anchor="ctr"/>
          <a:lstStyle/>
          <a:p>
            <a:pPr algn="l" indent="0" marL="0">
              <a:buNone/>
            </a:pPr>
            <a:r>
              <a:rPr lang="en-US" sz="3000" b="1" dirty="0">
                <a:solidFill>
                  <a:srgbClr val="0072B2"/>
                </a:solidFill>
                <a:latin typeface="Cambria" pitchFamily="34" charset="0"/>
                <a:ea typeface="Cambria" pitchFamily="34" charset="-122"/>
                <a:cs typeface="Cambria" pitchFamily="34" charset="-120"/>
              </a:rPr>
              <a:t>0.933 ± 0.005</a:t>
            </a:r>
            <a:endParaRPr lang="en-US" sz="3000" dirty="0"/>
          </a:p>
        </p:txBody>
      </p:sp>
      <p:sp>
        <p:nvSpPr>
          <p:cNvPr id="15" name="Text 11"/>
          <p:cNvSpPr/>
          <p:nvPr/>
        </p:nvSpPr>
        <p:spPr>
          <a:xfrm>
            <a:off x="8119872" y="5843016"/>
            <a:ext cx="3374136" cy="402336"/>
          </a:xfrm>
          <a:prstGeom prst="rect">
            <a:avLst/>
          </a:prstGeom>
          <a:noFill/>
          <a:ln/>
        </p:spPr>
        <p:txBody>
          <a:bodyPr wrap="square" lIns="0" tIns="0" rIns="0" bIns="0" rtlCol="0" anchor="t"/>
          <a:lstStyle/>
          <a:p>
            <a:pPr algn="l" indent="0" marL="0">
              <a:buNone/>
            </a:pPr>
            <a:r>
              <a:rPr lang="en-US" sz="1100" dirty="0">
                <a:solidFill>
                  <a:srgbClr val="68788A"/>
                </a:solidFill>
                <a:latin typeface="Calibri" pitchFamily="34" charset="0"/>
                <a:ea typeface="Calibri" pitchFamily="34" charset="-122"/>
                <a:cs typeface="Calibri" pitchFamily="34" charset="-120"/>
              </a:rPr>
              <a:t>cross-validated AUC, training folds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algn="l" indent="0" marL="0">
              <a:buNone/>
            </a:pPr>
            <a:r>
              <a:rPr lang="en-US" sz="3200" b="1" dirty="0">
                <a:solidFill>
                  <a:srgbClr val="16283C"/>
                </a:solidFill>
                <a:latin typeface="Cambria" pitchFamily="34" charset="0"/>
                <a:ea typeface="Cambria" pitchFamily="34" charset="-122"/>
                <a:cs typeface="Cambria" pitchFamily="34" charset="-120"/>
              </a:rPr>
              <a:t>Same question, a model you can read out loud</a:t>
            </a:r>
            <a:endParaRPr lang="en-US" sz="3200" dirty="0"/>
          </a:p>
        </p:txBody>
      </p:sp>
      <p:sp>
        <p:nvSpPr>
          <p:cNvPr id="3" name="Text 1"/>
          <p:cNvSpPr/>
          <p:nvPr/>
        </p:nvSpPr>
        <p:spPr>
          <a:xfrm>
            <a:off x="566928" y="1033272"/>
            <a:ext cx="11064240" cy="310896"/>
          </a:xfrm>
          <a:prstGeom prst="rect">
            <a:avLst/>
          </a:prstGeom>
          <a:noFill/>
          <a:ln/>
        </p:spPr>
        <p:txBody>
          <a:bodyPr wrap="square" lIns="0" tIns="0" rIns="0" bIns="0" rtlCol="0" anchor="ctr"/>
          <a:lstStyle/>
          <a:p>
            <a:pPr algn="l" indent="0" marL="0">
              <a:buNone/>
            </a:pPr>
            <a:r>
              <a:rPr lang="en-US" sz="1300" i="1" dirty="0">
                <a:solidFill>
                  <a:srgbClr val="68788A"/>
                </a:solidFill>
                <a:latin typeface="Calibri" pitchFamily="34" charset="0"/>
                <a:ea typeface="Calibri" pitchFamily="34" charset="-122"/>
                <a:cs typeface="Calibri" pitchFamily="34" charset="-120"/>
              </a:rPr>
              <a:t>“Show me a decision tree for metro status”</a:t>
            </a:r>
            <a:endParaRPr lang="en-US" sz="1300" dirty="0"/>
          </a:p>
        </p:txBody>
      </p:sp>
      <p:pic>
        <p:nvPicPr>
          <p:cNvPr id="4" name="Image 0" descr="/home/claude/deck/img/s6_tree.jpg">    </p:cNvPr>
          <p:cNvPicPr>
            <a:picLocks noChangeAspect="1"/>
          </p:cNvPicPr>
          <p:nvPr/>
        </p:nvPicPr>
        <p:blipFill>
          <a:blip r:embed="rId1"/>
          <a:stretch>
            <a:fillRect/>
          </a:stretch>
        </p:blipFill>
        <p:spPr>
          <a:xfrm>
            <a:off x="548640" y="1536192"/>
            <a:ext cx="7040880" cy="3657600"/>
          </a:xfrm>
          <a:prstGeom prst="rect">
            <a:avLst/>
          </a:prstGeom>
          <a:effectLst>
            <a:outerShdw sx="100000" sy="100000" kx="0" ky="0" algn="bl" rotWithShape="0" blurRad="177800" dist="38100" dir="5400000">
              <a:srgbClr val="000000">
                <a:alpha val="20000"/>
              </a:srgbClr>
            </a:outerShdw>
          </a:effectLst>
        </p:spPr>
      </p:pic>
      <p:sp>
        <p:nvSpPr>
          <p:cNvPr id="5" name="Shape 2"/>
          <p:cNvSpPr/>
          <p:nvPr/>
        </p:nvSpPr>
        <p:spPr>
          <a:xfrm>
            <a:off x="7909560" y="1536192"/>
            <a:ext cx="1005840" cy="292608"/>
          </a:xfrm>
          <a:prstGeom prst="roundRect">
            <a:avLst>
              <a:gd name="adj" fmla="val 18750"/>
            </a:avLst>
          </a:prstGeom>
          <a:solidFill>
            <a:srgbClr val="16283C"/>
          </a:solidFill>
          <a:ln w="12700">
            <a:solidFill>
              <a:srgbClr val="16283C"/>
            </a:solidFill>
            <a:prstDash val="solid"/>
          </a:ln>
        </p:spPr>
      </p:sp>
      <p:sp>
        <p:nvSpPr>
          <p:cNvPr id="6" name="Text 3"/>
          <p:cNvSpPr/>
          <p:nvPr/>
        </p:nvSpPr>
        <p:spPr>
          <a:xfrm>
            <a:off x="7909560" y="1536192"/>
            <a:ext cx="1005840" cy="292608"/>
          </a:xfrm>
          <a:prstGeom prst="rect">
            <a:avLst/>
          </a:prstGeom>
          <a:noFill/>
          <a:ln/>
        </p:spPr>
        <p:txBody>
          <a:bodyPr wrap="square" lIns="0" tIns="0" rIns="0" bIns="0" rtlCol="0" anchor="ctr"/>
          <a:lstStyle/>
          <a:p>
            <a:pPr algn="ctr" indent="0" marL="0">
              <a:buNone/>
            </a:pPr>
            <a:r>
              <a:rPr lang="en-US" sz="1000" b="1" spc="100" kern="0" dirty="0">
                <a:solidFill>
                  <a:srgbClr val="E69F00"/>
                </a:solidFill>
                <a:latin typeface="Courier New" pitchFamily="34" charset="0"/>
                <a:ea typeface="Courier New" pitchFamily="34" charset="-122"/>
                <a:cs typeface="Courier New" pitchFamily="34" charset="-120"/>
              </a:rPr>
              <a:t>rpart</a:t>
            </a:r>
            <a:endParaRPr lang="en-US" sz="1000" dirty="0"/>
          </a:p>
        </p:txBody>
      </p:sp>
      <p:sp>
        <p:nvSpPr>
          <p:cNvPr id="7" name="Text 4"/>
          <p:cNvSpPr/>
          <p:nvPr/>
        </p:nvSpPr>
        <p:spPr>
          <a:xfrm>
            <a:off x="7909560" y="1993392"/>
            <a:ext cx="3749040" cy="274320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50" dirty="0">
                <a:solidFill>
                  <a:srgbClr val="1B2733"/>
                </a:solidFill>
                <a:latin typeface="Calibri" pitchFamily="34" charset="0"/>
                <a:ea typeface="Calibri" pitchFamily="34" charset="-122"/>
                <a:cs typeface="Calibri" pitchFamily="34" charset="-120"/>
              </a:rPr>
              <a:t>Population density is the primary split (importance 75.4), then poverty rate, then college attainment.</a:t>
            </a:r>
            <a:endParaRPr lang="en-US" sz="1250" dirty="0"/>
          </a:p>
          <a:p>
            <a:pPr marL="342900" indent="-342900">
              <a:lnSpc>
                <a:spcPts val="1600"/>
              </a:lnSpc>
              <a:spcAft>
                <a:spcPts val="900"/>
              </a:spcAft>
              <a:buSzPct val="100000"/>
              <a:buChar char="•"/>
            </a:pPr>
            <a:r>
              <a:rPr lang="en-US" sz="1250" dirty="0">
                <a:solidFill>
                  <a:srgbClr val="1B2733"/>
                </a:solidFill>
                <a:latin typeface="Calibri" pitchFamily="34" charset="0"/>
                <a:ea typeface="Calibri" pitchFamily="34" charset="-122"/>
                <a:cs typeface="Calibri" pitchFamily="34" charset="-120"/>
              </a:rPr>
              <a:t>CV accuracy 0.868 against the logistic model's 0.875 — slightly worse, far easier to explain.</a:t>
            </a:r>
            <a:endParaRPr lang="en-US" sz="1250" dirty="0"/>
          </a:p>
          <a:p>
            <a:pPr marL="342900" indent="-342900">
              <a:lnSpc>
                <a:spcPts val="1600"/>
              </a:lnSpc>
              <a:spcAft>
                <a:spcPts val="900"/>
              </a:spcAft>
              <a:buSzPct val="100000"/>
              <a:buChar char="•"/>
            </a:pPr>
            <a:r>
              <a:rPr lang="en-US" sz="1250" dirty="0">
                <a:solidFill>
                  <a:srgbClr val="1B2733"/>
                </a:solidFill>
                <a:latin typeface="Calibri" pitchFamily="34" charset="0"/>
                <a:ea typeface="Calibri" pitchFamily="34" charset="-122"/>
                <a:cs typeface="Calibri" pitchFamily="34" charset="-120"/>
              </a:rPr>
              <a:t>CV AUC 0.864 vs 0.937: the trade you are making is visible, not hidden.</a:t>
            </a:r>
            <a:endParaRPr lang="en-US" sz="1250" dirty="0"/>
          </a:p>
          <a:p>
            <a:pPr marL="342900" indent="-342900">
              <a:lnSpc>
                <a:spcPts val="1600"/>
              </a:lnSpc>
              <a:spcAft>
                <a:spcPts val="900"/>
              </a:spcAft>
              <a:buSzPct val="100000"/>
              <a:buChar char="•"/>
            </a:pPr>
            <a:r>
              <a:rPr lang="en-US" sz="1250" dirty="0">
                <a:solidFill>
                  <a:srgbClr val="1B2733"/>
                </a:solidFill>
                <a:latin typeface="Calibri" pitchFamily="34" charset="0"/>
                <a:ea typeface="Calibri" pitchFamily="34" charset="-122"/>
                <a:cs typeface="Calibri" pitchFamily="34" charset="-120"/>
              </a:rPr>
              <a:t>Depth is capped at 4 so the preview stays legible.</a:t>
            </a:r>
            <a:endParaRPr lang="en-US" sz="1250" dirty="0"/>
          </a:p>
        </p:txBody>
      </p:sp>
      <p:sp>
        <p:nvSpPr>
          <p:cNvPr id="8" name="Text 5"/>
          <p:cNvSpPr/>
          <p:nvPr/>
        </p:nvSpPr>
        <p:spPr>
          <a:xfrm>
            <a:off x="7909560" y="4709160"/>
            <a:ext cx="3749040" cy="1005840"/>
          </a:xfrm>
          <a:prstGeom prst="rect">
            <a:avLst/>
          </a:prstGeom>
          <a:noFill/>
          <a:ln/>
        </p:spPr>
        <p:txBody>
          <a:bodyPr wrap="square" lIns="0" tIns="0" rIns="0" bIns="0" rtlCol="0" anchor="t"/>
          <a:lstStyle/>
          <a:p>
            <a:pPr indent="0" marL="0">
              <a:buNone/>
            </a:pPr>
            <a:r>
              <a:rPr lang="en-US" sz="1200" i="1" dirty="0">
                <a:solidFill>
                  <a:srgbClr val="68788A"/>
                </a:solidFill>
                <a:latin typeface="Calibri" pitchFamily="34" charset="0"/>
                <a:ea typeface="Calibri" pitchFamily="34" charset="-122"/>
                <a:cs typeface="Calibri" pitchFamily="34" charset="-120"/>
              </a:rPr>
              <a:t>You can hand this picture to someone who has never seen a log-odds and they can classify a county by walking the branches.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algn="l" indent="0" marL="0">
              <a:buNone/>
            </a:pPr>
            <a:r>
              <a:rPr lang="en-US" sz="3200" b="1" dirty="0">
                <a:solidFill>
                  <a:srgbClr val="16283C"/>
                </a:solidFill>
                <a:latin typeface="Cambria" pitchFamily="34" charset="0"/>
                <a:ea typeface="Cambria" pitchFamily="34" charset="-122"/>
                <a:cs typeface="Cambria" pitchFamily="34" charset="-120"/>
              </a:rPr>
              <a:t>Unsupervised, in the same sentence-sized ask</a:t>
            </a:r>
            <a:endParaRPr lang="en-US" sz="3200" dirty="0"/>
          </a:p>
        </p:txBody>
      </p:sp>
      <p:sp>
        <p:nvSpPr>
          <p:cNvPr id="3" name="Text 1"/>
          <p:cNvSpPr/>
          <p:nvPr/>
        </p:nvSpPr>
        <p:spPr>
          <a:xfrm>
            <a:off x="566928" y="1033272"/>
            <a:ext cx="11064240" cy="310896"/>
          </a:xfrm>
          <a:prstGeom prst="rect">
            <a:avLst/>
          </a:prstGeom>
          <a:noFill/>
          <a:ln/>
        </p:spPr>
        <p:txBody>
          <a:bodyPr wrap="square" lIns="0" tIns="0" rIns="0" bIns="0" rtlCol="0" anchor="ctr"/>
          <a:lstStyle/>
          <a:p>
            <a:pPr algn="l" indent="0" marL="0">
              <a:buNone/>
            </a:pPr>
            <a:r>
              <a:rPr lang="en-US" sz="1300" i="1" dirty="0">
                <a:solidFill>
                  <a:srgbClr val="68788A"/>
                </a:solidFill>
                <a:latin typeface="Calibri" pitchFamily="34" charset="0"/>
                <a:ea typeface="Calibri" pitchFamily="34" charset="-122"/>
                <a:cs typeface="Calibri" pitchFamily="34" charset="-120"/>
              </a:rPr>
              <a:t>“Cluster the counties on their numeric columns”</a:t>
            </a:r>
            <a:endParaRPr lang="en-US" sz="1300" dirty="0"/>
          </a:p>
        </p:txBody>
      </p:sp>
      <p:pic>
        <p:nvPicPr>
          <p:cNvPr id="4" name="Image 0" descr="/home/claude/deck/img/s7_clust.jpg">    </p:cNvPr>
          <p:cNvPicPr>
            <a:picLocks noChangeAspect="1"/>
          </p:cNvPicPr>
          <p:nvPr/>
        </p:nvPicPr>
        <p:blipFill>
          <a:blip r:embed="rId1"/>
          <a:stretch>
            <a:fillRect/>
          </a:stretch>
        </p:blipFill>
        <p:spPr>
          <a:xfrm>
            <a:off x="4937760" y="1536192"/>
            <a:ext cx="6675120" cy="3465576"/>
          </a:xfrm>
          <a:prstGeom prst="rect">
            <a:avLst/>
          </a:prstGeom>
          <a:effectLst>
            <a:outerShdw sx="100000" sy="100000" kx="0" ky="0" algn="bl" rotWithShape="0" blurRad="177800" dist="38100" dir="5400000">
              <a:srgbClr val="000000">
                <a:alpha val="20000"/>
              </a:srgbClr>
            </a:outerShdw>
          </a:effectLst>
        </p:spPr>
      </p:pic>
      <p:sp>
        <p:nvSpPr>
          <p:cNvPr id="5" name="Shape 2"/>
          <p:cNvSpPr/>
          <p:nvPr/>
        </p:nvSpPr>
        <p:spPr>
          <a:xfrm>
            <a:off x="548640" y="1536192"/>
            <a:ext cx="1188720" cy="292608"/>
          </a:xfrm>
          <a:prstGeom prst="roundRect">
            <a:avLst>
              <a:gd name="adj" fmla="val 18750"/>
            </a:avLst>
          </a:prstGeom>
          <a:solidFill>
            <a:srgbClr val="16283C"/>
          </a:solidFill>
          <a:ln w="12700">
            <a:solidFill>
              <a:srgbClr val="16283C"/>
            </a:solidFill>
            <a:prstDash val="solid"/>
          </a:ln>
        </p:spPr>
      </p:sp>
      <p:sp>
        <p:nvSpPr>
          <p:cNvPr id="6" name="Text 3"/>
          <p:cNvSpPr/>
          <p:nvPr/>
        </p:nvSpPr>
        <p:spPr>
          <a:xfrm>
            <a:off x="548640" y="1536192"/>
            <a:ext cx="1188720" cy="292608"/>
          </a:xfrm>
          <a:prstGeom prst="rect">
            <a:avLst/>
          </a:prstGeom>
          <a:noFill/>
          <a:ln/>
        </p:spPr>
        <p:txBody>
          <a:bodyPr wrap="square" lIns="0" tIns="0" rIns="0" bIns="0" rtlCol="0" anchor="ctr"/>
          <a:lstStyle/>
          <a:p>
            <a:pPr algn="ctr" indent="0" marL="0">
              <a:buNone/>
            </a:pPr>
            <a:r>
              <a:rPr lang="en-US" sz="1000" b="1" spc="100" kern="0" dirty="0">
                <a:solidFill>
                  <a:srgbClr val="E69F00"/>
                </a:solidFill>
                <a:latin typeface="Courier New" pitchFamily="34" charset="0"/>
                <a:ea typeface="Courier New" pitchFamily="34" charset="-122"/>
                <a:cs typeface="Courier New" pitchFamily="34" charset="-120"/>
              </a:rPr>
              <a:t>k-means</a:t>
            </a:r>
            <a:endParaRPr lang="en-US" sz="1000" dirty="0"/>
          </a:p>
        </p:txBody>
      </p:sp>
      <p:sp>
        <p:nvSpPr>
          <p:cNvPr id="7" name="Text 4"/>
          <p:cNvSpPr/>
          <p:nvPr/>
        </p:nvSpPr>
        <p:spPr>
          <a:xfrm>
            <a:off x="548640" y="1993392"/>
            <a:ext cx="4114800" cy="384048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50" dirty="0">
                <a:solidFill>
                  <a:srgbClr val="1B2733"/>
                </a:solidFill>
                <a:latin typeface="Calibri" pitchFamily="34" charset="0"/>
                <a:ea typeface="Calibri" pitchFamily="34" charset="-122"/>
                <a:cs typeface="Calibri" pitchFamily="34" charset="-120"/>
              </a:rPr>
              <a:t>25 numeric columns in, k = 3, plotted on the first two principal components.</a:t>
            </a:r>
            <a:endParaRPr lang="en-US" sz="1250" dirty="0"/>
          </a:p>
          <a:p>
            <a:pPr marL="342900" indent="-342900">
              <a:lnSpc>
                <a:spcPts val="1600"/>
              </a:lnSpc>
              <a:spcAft>
                <a:spcPts val="900"/>
              </a:spcAft>
              <a:buSzPct val="100000"/>
              <a:buChar char="•"/>
            </a:pPr>
            <a:r>
              <a:rPr lang="en-US" sz="1250" dirty="0">
                <a:solidFill>
                  <a:srgbClr val="1B2733"/>
                </a:solidFill>
                <a:latin typeface="Calibri" pitchFamily="34" charset="0"/>
                <a:ea typeface="Calibri" pitchFamily="34" charset="-122"/>
                <a:cs typeface="Calibri" pitchFamily="34" charset="-120"/>
              </a:rPr>
              <a:t>It chose k itself and said why — then offered an elbow plot and cluster profiles as the next step.</a:t>
            </a:r>
            <a:endParaRPr lang="en-US" sz="1250" dirty="0"/>
          </a:p>
          <a:p>
            <a:pPr marL="342900" indent="-342900">
              <a:lnSpc>
                <a:spcPts val="1600"/>
              </a:lnSpc>
              <a:spcAft>
                <a:spcPts val="900"/>
              </a:spcAft>
              <a:buSzPct val="100000"/>
              <a:buChar char="•"/>
            </a:pPr>
            <a:r>
              <a:rPr lang="en-US" sz="1250" dirty="0">
                <a:solidFill>
                  <a:srgbClr val="1B2733"/>
                </a:solidFill>
                <a:latin typeface="Calibri" pitchFamily="34" charset="0"/>
                <a:ea typeface="Calibri" pitchFamily="34" charset="-122"/>
                <a:cs typeface="Calibri" pitchFamily="34" charset="-120"/>
              </a:rPr>
              <a:t>PCA, a correlation heatmap and k-means all live behind the same set_model tool.</a:t>
            </a:r>
            <a:endParaRPr lang="en-US" sz="1250" dirty="0"/>
          </a:p>
          <a:p>
            <a:pPr marL="342900" indent="-342900">
              <a:lnSpc>
                <a:spcPts val="1600"/>
              </a:lnSpc>
              <a:spcAft>
                <a:spcPts val="900"/>
              </a:spcAft>
              <a:buSzPct val="100000"/>
              <a:buChar char="•"/>
            </a:pPr>
            <a:r>
              <a:rPr lang="en-US" sz="1250" dirty="0">
                <a:solidFill>
                  <a:srgbClr val="1B2733"/>
                </a:solidFill>
                <a:latin typeface="Calibri" pitchFamily="34" charset="0"/>
                <a:ea typeface="Calibri" pitchFamily="34" charset="-122"/>
                <a:cs typeface="Calibri" pitchFamily="34" charset="-120"/>
              </a:rPr>
              <a:t>No coefficient table here, so that pane says so rather than rendering an empty chart.</a:t>
            </a:r>
            <a:endParaRPr lang="en-US" sz="1250" dirty="0"/>
          </a:p>
        </p:txBody>
      </p:sp>
      <p:sp>
        <p:nvSpPr>
          <p:cNvPr id="8" name="Text 5"/>
          <p:cNvSpPr/>
          <p:nvPr/>
        </p:nvSpPr>
        <p:spPr>
          <a:xfrm>
            <a:off x="4937760" y="5166360"/>
            <a:ext cx="6675120" cy="548640"/>
          </a:xfrm>
          <a:prstGeom prst="rect">
            <a:avLst/>
          </a:prstGeom>
          <a:noFill/>
          <a:ln/>
        </p:spPr>
        <p:txBody>
          <a:bodyPr wrap="square" lIns="0" tIns="0" rIns="0" bIns="0" rtlCol="0" anchor="t"/>
          <a:lstStyle/>
          <a:p>
            <a:pPr indent="0" marL="0">
              <a:buNone/>
            </a:pPr>
            <a:r>
              <a:rPr lang="en-US" sz="1200" i="1" dirty="0">
                <a:solidFill>
                  <a:srgbClr val="68788A"/>
                </a:solidFill>
                <a:latin typeface="Calibri" pitchFamily="34" charset="0"/>
                <a:ea typeface="Calibri" pitchFamily="34" charset="-122"/>
                <a:cs typeface="Calibri" pitchFamily="34" charset="-120"/>
              </a:rPr>
              <a:t>One dense cluster of small rural counties, a broad middle, and a single far outlier — Cook County, IL.</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algn="l" indent="0" marL="0">
              <a:buNone/>
            </a:pPr>
            <a:r>
              <a:rPr lang="en-US" sz="3200" b="1" dirty="0">
                <a:solidFill>
                  <a:srgbClr val="16283C"/>
                </a:solidFill>
                <a:latin typeface="Cambria" pitchFamily="34" charset="0"/>
                <a:ea typeface="Cambria" pitchFamily="34" charset="-122"/>
                <a:cs typeface="Cambria" pitchFamily="34" charset="-120"/>
              </a:rPr>
              <a:t>“Is the difference real?” is a first-class question</a:t>
            </a:r>
            <a:endParaRPr lang="en-US" sz="3200" dirty="0"/>
          </a:p>
        </p:txBody>
      </p:sp>
      <p:sp>
        <p:nvSpPr>
          <p:cNvPr id="3" name="Text 1"/>
          <p:cNvSpPr/>
          <p:nvPr/>
        </p:nvSpPr>
        <p:spPr>
          <a:xfrm>
            <a:off x="566928" y="1033272"/>
            <a:ext cx="11064240" cy="310896"/>
          </a:xfrm>
          <a:prstGeom prst="rect">
            <a:avLst/>
          </a:prstGeom>
          <a:noFill/>
          <a:ln/>
        </p:spPr>
        <p:txBody>
          <a:bodyPr wrap="square" lIns="0" tIns="0" rIns="0" bIns="0" rtlCol="0" anchor="ctr"/>
          <a:lstStyle/>
          <a:p>
            <a:pPr algn="l" indent="0" marL="0">
              <a:buNone/>
            </a:pPr>
            <a:r>
              <a:rPr lang="en-US" sz="1300" i="1" dirty="0">
                <a:solidFill>
                  <a:srgbClr val="68788A"/>
                </a:solidFill>
                <a:latin typeface="Calibri" pitchFamily="34" charset="0"/>
                <a:ea typeface="Calibri" pitchFamily="34" charset="-122"/>
                <a:cs typeface="Calibri" pitchFamily="34" charset="-120"/>
              </a:rPr>
              <a:t>“Is poverty really different between metro and non-metro counties?”</a:t>
            </a:r>
            <a:endParaRPr lang="en-US" sz="1300" dirty="0"/>
          </a:p>
        </p:txBody>
      </p:sp>
      <p:pic>
        <p:nvPicPr>
          <p:cNvPr id="4" name="Image 0" descr="/home/claude/deck/img/s8_metrics.jpg">    </p:cNvPr>
          <p:cNvPicPr>
            <a:picLocks noChangeAspect="1"/>
          </p:cNvPicPr>
          <p:nvPr/>
        </p:nvPicPr>
        <p:blipFill>
          <a:blip r:embed="rId1"/>
          <a:stretch>
            <a:fillRect/>
          </a:stretch>
        </p:blipFill>
        <p:spPr>
          <a:xfrm>
            <a:off x="7863840" y="1481328"/>
            <a:ext cx="3749040" cy="4498848"/>
          </a:xfrm>
          <a:prstGeom prst="rect">
            <a:avLst/>
          </a:prstGeom>
          <a:effectLst>
            <a:outerShdw sx="100000" sy="100000" kx="0" ky="0" algn="bl" rotWithShape="0" blurRad="177800" dist="38100" dir="5400000">
              <a:srgbClr val="000000">
                <a:alpha val="20000"/>
              </a:srgbClr>
            </a:outerShdw>
          </a:effectLst>
        </p:spPr>
      </p:pic>
      <p:sp>
        <p:nvSpPr>
          <p:cNvPr id="5" name="Shape 2"/>
          <p:cNvSpPr/>
          <p:nvPr/>
        </p:nvSpPr>
        <p:spPr>
          <a:xfrm>
            <a:off x="548640" y="1554480"/>
            <a:ext cx="2240280" cy="1170432"/>
          </a:xfrm>
          <a:prstGeom prst="roundRect">
            <a:avLst>
              <a:gd name="adj" fmla="val 3906"/>
            </a:avLst>
          </a:prstGeom>
          <a:solidFill>
            <a:srgbClr val="F3F5F8"/>
          </a:solidFill>
          <a:ln w="12700">
            <a:solidFill>
              <a:srgbClr val="F3F5F8"/>
            </a:solidFill>
            <a:prstDash val="solid"/>
          </a:ln>
        </p:spPr>
      </p:sp>
      <p:sp>
        <p:nvSpPr>
          <p:cNvPr id="6" name="Text 3"/>
          <p:cNvSpPr/>
          <p:nvPr/>
        </p:nvSpPr>
        <p:spPr>
          <a:xfrm>
            <a:off x="713232" y="1627632"/>
            <a:ext cx="1911096" cy="621792"/>
          </a:xfrm>
          <a:prstGeom prst="rect">
            <a:avLst/>
          </a:prstGeom>
          <a:noFill/>
          <a:ln/>
        </p:spPr>
        <p:txBody>
          <a:bodyPr wrap="square" lIns="0" tIns="0" rIns="0" bIns="0" rtlCol="0" anchor="ctr"/>
          <a:lstStyle/>
          <a:p>
            <a:pPr algn="l" indent="0" marL="0">
              <a:buNone/>
            </a:pPr>
            <a:r>
              <a:rPr lang="en-US" sz="3000" b="1" dirty="0">
                <a:solidFill>
                  <a:srgbClr val="009E73"/>
                </a:solidFill>
                <a:latin typeface="Cambria" pitchFamily="34" charset="0"/>
                <a:ea typeface="Cambria" pitchFamily="34" charset="-122"/>
                <a:cs typeface="Cambria" pitchFamily="34" charset="-120"/>
              </a:rPr>
              <a:t>&lt; 0.001</a:t>
            </a:r>
            <a:endParaRPr lang="en-US" sz="3000" dirty="0"/>
          </a:p>
        </p:txBody>
      </p:sp>
      <p:sp>
        <p:nvSpPr>
          <p:cNvPr id="7" name="Text 4"/>
          <p:cNvSpPr/>
          <p:nvPr/>
        </p:nvSpPr>
        <p:spPr>
          <a:xfrm>
            <a:off x="713232" y="2231136"/>
            <a:ext cx="1911096" cy="402336"/>
          </a:xfrm>
          <a:prstGeom prst="rect">
            <a:avLst/>
          </a:prstGeom>
          <a:noFill/>
          <a:ln/>
        </p:spPr>
        <p:txBody>
          <a:bodyPr wrap="square" lIns="0" tIns="0" rIns="0" bIns="0" rtlCol="0" anchor="t"/>
          <a:lstStyle/>
          <a:p>
            <a:pPr algn="l" indent="0" marL="0">
              <a:buNone/>
            </a:pPr>
            <a:r>
              <a:rPr lang="en-US" sz="1100" dirty="0">
                <a:solidFill>
                  <a:srgbClr val="68788A"/>
                </a:solidFill>
                <a:latin typeface="Calibri" pitchFamily="34" charset="0"/>
                <a:ea typeface="Calibri" pitchFamily="34" charset="-122"/>
                <a:cs typeface="Calibri" pitchFamily="34" charset="-120"/>
              </a:rPr>
              <a:t>p-value</a:t>
            </a:r>
            <a:endParaRPr lang="en-US" sz="1100" dirty="0"/>
          </a:p>
        </p:txBody>
      </p:sp>
      <p:sp>
        <p:nvSpPr>
          <p:cNvPr id="8" name="Shape 5"/>
          <p:cNvSpPr/>
          <p:nvPr/>
        </p:nvSpPr>
        <p:spPr>
          <a:xfrm>
            <a:off x="2926080" y="1554480"/>
            <a:ext cx="2240280" cy="1170432"/>
          </a:xfrm>
          <a:prstGeom prst="roundRect">
            <a:avLst>
              <a:gd name="adj" fmla="val 3906"/>
            </a:avLst>
          </a:prstGeom>
          <a:solidFill>
            <a:srgbClr val="F3F5F8"/>
          </a:solidFill>
          <a:ln w="12700">
            <a:solidFill>
              <a:srgbClr val="F3F5F8"/>
            </a:solidFill>
            <a:prstDash val="solid"/>
          </a:ln>
        </p:spPr>
      </p:sp>
      <p:sp>
        <p:nvSpPr>
          <p:cNvPr id="9" name="Text 6"/>
          <p:cNvSpPr/>
          <p:nvPr/>
        </p:nvSpPr>
        <p:spPr>
          <a:xfrm>
            <a:off x="3090672" y="1627632"/>
            <a:ext cx="1911096" cy="621792"/>
          </a:xfrm>
          <a:prstGeom prst="rect">
            <a:avLst/>
          </a:prstGeom>
          <a:noFill/>
          <a:ln/>
        </p:spPr>
        <p:txBody>
          <a:bodyPr wrap="square" lIns="0" tIns="0" rIns="0" bIns="0" rtlCol="0" anchor="ctr"/>
          <a:lstStyle/>
          <a:p>
            <a:pPr algn="l" indent="0" marL="0">
              <a:buNone/>
            </a:pPr>
            <a:r>
              <a:rPr lang="en-US" sz="3000" b="1" dirty="0">
                <a:solidFill>
                  <a:srgbClr val="16283C"/>
                </a:solidFill>
                <a:latin typeface="Cambria" pitchFamily="34" charset="0"/>
                <a:ea typeface="Cambria" pitchFamily="34" charset="-122"/>
                <a:cs typeface="Cambria" pitchFamily="34" charset="-120"/>
              </a:rPr>
              <a:t>−0.311</a:t>
            </a:r>
            <a:endParaRPr lang="en-US" sz="3000" dirty="0"/>
          </a:p>
        </p:txBody>
      </p:sp>
      <p:sp>
        <p:nvSpPr>
          <p:cNvPr id="10" name="Text 7"/>
          <p:cNvSpPr/>
          <p:nvPr/>
        </p:nvSpPr>
        <p:spPr>
          <a:xfrm>
            <a:off x="3090672" y="2231136"/>
            <a:ext cx="1911096" cy="402336"/>
          </a:xfrm>
          <a:prstGeom prst="rect">
            <a:avLst/>
          </a:prstGeom>
          <a:noFill/>
          <a:ln/>
        </p:spPr>
        <p:txBody>
          <a:bodyPr wrap="square" lIns="0" tIns="0" rIns="0" bIns="0" rtlCol="0" anchor="t"/>
          <a:lstStyle/>
          <a:p>
            <a:pPr algn="l" indent="0" marL="0">
              <a:buNone/>
            </a:pPr>
            <a:r>
              <a:rPr lang="en-US" sz="1100" dirty="0">
                <a:solidFill>
                  <a:srgbClr val="68788A"/>
                </a:solidFill>
                <a:latin typeface="Calibri" pitchFamily="34" charset="0"/>
                <a:ea typeface="Calibri" pitchFamily="34" charset="-122"/>
                <a:cs typeface="Calibri" pitchFamily="34" charset="-120"/>
              </a:rPr>
              <a:t>correlation estimate</a:t>
            </a:r>
            <a:endParaRPr lang="en-US" sz="1100" dirty="0"/>
          </a:p>
        </p:txBody>
      </p:sp>
      <p:sp>
        <p:nvSpPr>
          <p:cNvPr id="11" name="Text 8"/>
          <p:cNvSpPr/>
          <p:nvPr/>
        </p:nvSpPr>
        <p:spPr>
          <a:xfrm>
            <a:off x="548640" y="2880360"/>
            <a:ext cx="4617720" cy="384048"/>
          </a:xfrm>
          <a:prstGeom prst="rect">
            <a:avLst/>
          </a:prstGeom>
          <a:noFill/>
          <a:ln/>
        </p:spPr>
        <p:txBody>
          <a:bodyPr wrap="square" lIns="0" tIns="0" rIns="0" bIns="0" rtlCol="0" anchor="ctr"/>
          <a:lstStyle/>
          <a:p>
            <a:pPr indent="0" marL="0">
              <a:buNone/>
            </a:pPr>
            <a:r>
              <a:rPr lang="en-US" sz="1400" b="1" dirty="0">
                <a:solidFill>
                  <a:srgbClr val="0072B2"/>
                </a:solidFill>
                <a:latin typeface="Courier New" pitchFamily="34" charset="0"/>
                <a:ea typeface="Courier New" pitchFamily="34" charset="-122"/>
                <a:cs typeface="Courier New" pitchFamily="34" charset="-120"/>
              </a:rPr>
              <a:t>95% CI  [−0.394, −0.224]</a:t>
            </a:r>
            <a:endParaRPr lang="en-US" sz="1400" dirty="0"/>
          </a:p>
        </p:txBody>
      </p:sp>
      <p:sp>
        <p:nvSpPr>
          <p:cNvPr id="12" name="Text 9"/>
          <p:cNvSpPr/>
          <p:nvPr/>
        </p:nvSpPr>
        <p:spPr>
          <a:xfrm>
            <a:off x="548640" y="3429000"/>
            <a:ext cx="6949440" cy="2926080"/>
          </a:xfrm>
          <a:prstGeom prst="rect">
            <a:avLst/>
          </a:prstGeom>
          <a:noFill/>
          <a:ln/>
        </p:spPr>
        <p:txBody>
          <a:bodyPr wrap="square" lIns="0" tIns="0" rIns="0" bIns="0" rtlCol="0" anchor="t"/>
          <a:lstStyle/>
          <a:p>
            <a:pPr marL="342900" indent="-342900">
              <a:lnSpc>
                <a:spcPts val="1664"/>
              </a:lnSpc>
              <a:spcAft>
                <a:spcPts val="900"/>
              </a:spcAft>
              <a:buSzPct val="100000"/>
              <a:buChar char="•"/>
            </a:pPr>
            <a:r>
              <a:rPr lang="en-US" sz="1300" dirty="0">
                <a:solidFill>
                  <a:srgbClr val="1B2733"/>
                </a:solidFill>
                <a:latin typeface="Calibri" pitchFamily="34" charset="0"/>
                <a:ea typeface="Calibri" pitchFamily="34" charset="-122"/>
                <a:cs typeface="Calibri" pitchFamily="34" charset="-120"/>
              </a:rPr>
              <a:t>Ask a question about significance and it runs a test instead of fitting a predictor — t-test, ANOVA, chi-square or correlation, chosen from the column roles.</a:t>
            </a:r>
            <a:endParaRPr lang="en-US" sz="1300" dirty="0"/>
          </a:p>
          <a:p>
            <a:pPr marL="342900" indent="-342900">
              <a:lnSpc>
                <a:spcPts val="1664"/>
              </a:lnSpc>
              <a:spcAft>
                <a:spcPts val="900"/>
              </a:spcAft>
              <a:buSzPct val="100000"/>
              <a:buChar char="•"/>
            </a:pPr>
            <a:r>
              <a:rPr lang="en-US" sz="1300" dirty="0">
                <a:solidFill>
                  <a:srgbClr val="1B2733"/>
                </a:solidFill>
                <a:latin typeface="Calibri" pitchFamily="34" charset="0"/>
                <a:ea typeface="Calibri" pitchFamily="34" charset="-122"/>
                <a:cs typeface="Calibri" pitchFamily="34" charset="-120"/>
              </a:rPr>
              <a:t>Metro counties run about 3–4 percentage points lower on poverty, and zero is nowhere near the interval.</a:t>
            </a:r>
            <a:endParaRPr lang="en-US" sz="1300" dirty="0"/>
          </a:p>
          <a:p>
            <a:pPr marL="342900" indent="-342900">
              <a:lnSpc>
                <a:spcPts val="1664"/>
              </a:lnSpc>
              <a:spcAft>
                <a:spcPts val="900"/>
              </a:spcAft>
              <a:buSzPct val="100000"/>
              <a:buChar char="•"/>
            </a:pPr>
            <a:r>
              <a:rPr lang="en-US" sz="1300" dirty="0">
                <a:solidFill>
                  <a:srgbClr val="1B2733"/>
                </a:solidFill>
                <a:latin typeface="Calibri" pitchFamily="34" charset="0"/>
                <a:ea typeface="Calibri" pitchFamily="34" charset="-122"/>
                <a:cs typeface="Calibri" pitchFamily="34" charset="-120"/>
              </a:rPr>
              <a:t>The result pane carries its own caveat: correlation is an association, not a cause.</a:t>
            </a:r>
            <a:endParaRPr lang="en-US" sz="1300" dirty="0"/>
          </a:p>
          <a:p>
            <a:pPr marL="342900" indent="-342900">
              <a:lnSpc>
                <a:spcPts val="1664"/>
              </a:lnSpc>
              <a:spcAft>
                <a:spcPts val="900"/>
              </a:spcAft>
              <a:buSzPct val="100000"/>
              <a:buChar char="•"/>
            </a:pPr>
            <a:r>
              <a:rPr lang="en-US" sz="1300" dirty="0">
                <a:solidFill>
                  <a:srgbClr val="1B2733"/>
                </a:solidFill>
                <a:latin typeface="Calibri" pitchFamily="34" charset="0"/>
                <a:ea typeface="Calibri" pitchFamily="34" charset="-122"/>
                <a:cs typeface="Calibri" pitchFamily="34" charset="-120"/>
              </a:rPr>
              <a:t>Reset preview restores the default view for the tab without spending another model call.</a:t>
            </a:r>
            <a:endParaRPr lang="en-US" sz="1300" dirty="0"/>
          </a:p>
        </p:txBody>
      </p:sp>
      <p:sp>
        <p:nvSpPr>
          <p:cNvPr id="13" name="Shape 10"/>
          <p:cNvSpPr/>
          <p:nvPr/>
        </p:nvSpPr>
        <p:spPr>
          <a:xfrm>
            <a:off x="548640" y="5806440"/>
            <a:ext cx="6949440" cy="685800"/>
          </a:xfrm>
          <a:prstGeom prst="roundRect">
            <a:avLst>
              <a:gd name="adj" fmla="val 6667"/>
            </a:avLst>
          </a:prstGeom>
          <a:solidFill>
            <a:srgbClr val="16283C"/>
          </a:solidFill>
          <a:ln w="12700">
            <a:solidFill>
              <a:srgbClr val="16283C"/>
            </a:solidFill>
            <a:prstDash val="solid"/>
          </a:ln>
        </p:spPr>
      </p:sp>
      <p:sp>
        <p:nvSpPr>
          <p:cNvPr id="14" name="Text 11"/>
          <p:cNvSpPr/>
          <p:nvPr/>
        </p:nvSpPr>
        <p:spPr>
          <a:xfrm>
            <a:off x="822960" y="5806440"/>
            <a:ext cx="6492240" cy="6858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Correlation is an association, not a cause. — printed by R, not by the model.</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algn="l" indent="0" marL="0">
              <a:buNone/>
            </a:pPr>
            <a:r>
              <a:rPr lang="en-US" sz="3200" b="1" dirty="0">
                <a:solidFill>
                  <a:srgbClr val="16283C"/>
                </a:solidFill>
                <a:latin typeface="Cambria" pitchFamily="34" charset="0"/>
                <a:ea typeface="Cambria" pitchFamily="34" charset="-122"/>
                <a:cs typeface="Cambria" pitchFamily="34" charset="-120"/>
              </a:rPr>
              <a:t>What is actually doing the work</a:t>
            </a:r>
            <a:endParaRPr lang="en-US" sz="3200" dirty="0"/>
          </a:p>
        </p:txBody>
      </p:sp>
      <p:sp>
        <p:nvSpPr>
          <p:cNvPr id="3" name="Text 1"/>
          <p:cNvSpPr/>
          <p:nvPr/>
        </p:nvSpPr>
        <p:spPr>
          <a:xfrm>
            <a:off x="566928" y="1033272"/>
            <a:ext cx="11064240" cy="310896"/>
          </a:xfrm>
          <a:prstGeom prst="rect">
            <a:avLst/>
          </a:prstGeom>
          <a:noFill/>
          <a:ln/>
        </p:spPr>
        <p:txBody>
          <a:bodyPr wrap="square" lIns="0" tIns="0" rIns="0" bIns="0" rtlCol="0" anchor="ctr"/>
          <a:lstStyle/>
          <a:p>
            <a:pPr algn="l" indent="0" marL="0">
              <a:buNone/>
            </a:pPr>
            <a:r>
              <a:rPr lang="en-US" sz="1300" i="1" dirty="0">
                <a:solidFill>
                  <a:srgbClr val="68788A"/>
                </a:solidFill>
                <a:latin typeface="Calibri" pitchFamily="34" charset="0"/>
                <a:ea typeface="Calibri" pitchFamily="34" charset="-122"/>
                <a:cs typeface="Calibri" pitchFamily="34" charset="-120"/>
              </a:rPr>
              <a:t>About 250 KB of R across a dozen files — the chat layer is the thin part</a:t>
            </a:r>
            <a:endParaRPr lang="en-US" sz="1300" dirty="0"/>
          </a:p>
        </p:txBody>
      </p:sp>
      <p:sp>
        <p:nvSpPr>
          <p:cNvPr id="4" name="Shape 2"/>
          <p:cNvSpPr/>
          <p:nvPr/>
        </p:nvSpPr>
        <p:spPr>
          <a:xfrm>
            <a:off x="548640" y="1645920"/>
            <a:ext cx="3611880" cy="1417320"/>
          </a:xfrm>
          <a:prstGeom prst="roundRect">
            <a:avLst>
              <a:gd name="adj" fmla="val 3226"/>
            </a:avLst>
          </a:prstGeom>
          <a:solidFill>
            <a:srgbClr val="F3F5F8"/>
          </a:solidFill>
          <a:ln w="12700">
            <a:solidFill>
              <a:srgbClr val="F3F5F8"/>
            </a:solidFill>
            <a:prstDash val="solid"/>
          </a:ln>
        </p:spPr>
      </p:sp>
      <p:sp>
        <p:nvSpPr>
          <p:cNvPr id="5" name="Shape 3"/>
          <p:cNvSpPr/>
          <p:nvPr/>
        </p:nvSpPr>
        <p:spPr>
          <a:xfrm>
            <a:off x="749808" y="1847088"/>
            <a:ext cx="219456" cy="219456"/>
          </a:xfrm>
          <a:prstGeom prst="roundRect">
            <a:avLst>
              <a:gd name="adj" fmla="val 25000"/>
            </a:avLst>
          </a:prstGeom>
          <a:solidFill>
            <a:srgbClr val="E69F00"/>
          </a:solidFill>
          <a:ln w="12700">
            <a:solidFill>
              <a:srgbClr val="E69F00"/>
            </a:solidFill>
            <a:prstDash val="solid"/>
          </a:ln>
        </p:spPr>
      </p:sp>
      <p:sp>
        <p:nvSpPr>
          <p:cNvPr id="6" name="Text 4"/>
          <p:cNvSpPr/>
          <p:nvPr/>
        </p:nvSpPr>
        <p:spPr>
          <a:xfrm>
            <a:off x="1060704" y="1810512"/>
            <a:ext cx="2898648" cy="310896"/>
          </a:xfrm>
          <a:prstGeom prst="rect">
            <a:avLst/>
          </a:prstGeom>
          <a:noFill/>
          <a:ln/>
        </p:spPr>
        <p:txBody>
          <a:bodyPr wrap="square" lIns="0" tIns="0" rIns="0" bIns="0" rtlCol="0" anchor="ctr"/>
          <a:lstStyle/>
          <a:p>
            <a:pPr indent="0" marL="0">
              <a:buNone/>
            </a:pPr>
            <a:r>
              <a:rPr lang="en-US" sz="1150" b="1" dirty="0">
                <a:solidFill>
                  <a:srgbClr val="16283C"/>
                </a:solidFill>
                <a:latin typeface="Courier New" pitchFamily="34" charset="0"/>
                <a:ea typeface="Courier New" pitchFamily="34" charset="-122"/>
                <a:cs typeface="Courier New" pitchFamily="34" charset="-120"/>
              </a:rPr>
              <a:t>R/profile.R</a:t>
            </a:r>
            <a:endParaRPr lang="en-US" sz="1150" dirty="0"/>
          </a:p>
        </p:txBody>
      </p:sp>
      <p:sp>
        <p:nvSpPr>
          <p:cNvPr id="7" name="Text 5"/>
          <p:cNvSpPr/>
          <p:nvPr/>
        </p:nvSpPr>
        <p:spPr>
          <a:xfrm>
            <a:off x="749808" y="2212848"/>
            <a:ext cx="3209544" cy="731520"/>
          </a:xfrm>
          <a:prstGeom prst="rect">
            <a:avLst/>
          </a:prstGeom>
          <a:noFill/>
          <a:ln/>
        </p:spPr>
        <p:txBody>
          <a:bodyPr wrap="square" lIns="0" tIns="0" rIns="0" bIns="0" rtlCol="0" anchor="t"/>
          <a:lstStyle/>
          <a:p>
            <a:pPr indent="0" marL="0">
              <a:buNone/>
            </a:pPr>
            <a:r>
              <a:rPr lang="en-US" sz="1200" dirty="0">
                <a:solidFill>
                  <a:srgbClr val="1B2733"/>
                </a:solidFill>
                <a:latin typeface="Calibri" pitchFamily="34" charset="0"/>
                <a:ea typeface="Calibri" pitchFamily="34" charset="-122"/>
                <a:cs typeface="Calibri" pitchFamily="34" charset="-120"/>
              </a:rPr>
              <a:t>Column roles inferred from statistics — the only thing the model sees.</a:t>
            </a:r>
            <a:endParaRPr lang="en-US" sz="1200" dirty="0"/>
          </a:p>
        </p:txBody>
      </p:sp>
      <p:sp>
        <p:nvSpPr>
          <p:cNvPr id="8" name="Shape 6"/>
          <p:cNvSpPr/>
          <p:nvPr/>
        </p:nvSpPr>
        <p:spPr>
          <a:xfrm>
            <a:off x="4379976" y="1645920"/>
            <a:ext cx="3611880" cy="1417320"/>
          </a:xfrm>
          <a:prstGeom prst="roundRect">
            <a:avLst>
              <a:gd name="adj" fmla="val 3226"/>
            </a:avLst>
          </a:prstGeom>
          <a:solidFill>
            <a:srgbClr val="F3F5F8"/>
          </a:solidFill>
          <a:ln w="12700">
            <a:solidFill>
              <a:srgbClr val="F3F5F8"/>
            </a:solidFill>
            <a:prstDash val="solid"/>
          </a:ln>
        </p:spPr>
      </p:sp>
      <p:sp>
        <p:nvSpPr>
          <p:cNvPr id="9" name="Shape 7"/>
          <p:cNvSpPr/>
          <p:nvPr/>
        </p:nvSpPr>
        <p:spPr>
          <a:xfrm>
            <a:off x="4581144" y="1847088"/>
            <a:ext cx="219456" cy="219456"/>
          </a:xfrm>
          <a:prstGeom prst="roundRect">
            <a:avLst>
              <a:gd name="adj" fmla="val 25000"/>
            </a:avLst>
          </a:prstGeom>
          <a:solidFill>
            <a:srgbClr val="0072B2"/>
          </a:solidFill>
          <a:ln w="12700">
            <a:solidFill>
              <a:srgbClr val="0072B2"/>
            </a:solidFill>
            <a:prstDash val="solid"/>
          </a:ln>
        </p:spPr>
      </p:sp>
      <p:sp>
        <p:nvSpPr>
          <p:cNvPr id="10" name="Text 8"/>
          <p:cNvSpPr/>
          <p:nvPr/>
        </p:nvSpPr>
        <p:spPr>
          <a:xfrm>
            <a:off x="4892040" y="1810512"/>
            <a:ext cx="2898648" cy="310896"/>
          </a:xfrm>
          <a:prstGeom prst="rect">
            <a:avLst/>
          </a:prstGeom>
          <a:noFill/>
          <a:ln/>
        </p:spPr>
        <p:txBody>
          <a:bodyPr wrap="square" lIns="0" tIns="0" rIns="0" bIns="0" rtlCol="0" anchor="ctr"/>
          <a:lstStyle/>
          <a:p>
            <a:pPr indent="0" marL="0">
              <a:buNone/>
            </a:pPr>
            <a:r>
              <a:rPr lang="en-US" sz="1150" b="1" dirty="0">
                <a:solidFill>
                  <a:srgbClr val="16283C"/>
                </a:solidFill>
                <a:latin typeface="Courier New" pitchFamily="34" charset="0"/>
                <a:ea typeface="Courier New" pitchFamily="34" charset="-122"/>
                <a:cs typeface="Courier New" pitchFamily="34" charset="-120"/>
              </a:rPr>
              <a:t>R/plot-recipe.R</a:t>
            </a:r>
            <a:endParaRPr lang="en-US" sz="1150" dirty="0"/>
          </a:p>
        </p:txBody>
      </p:sp>
      <p:sp>
        <p:nvSpPr>
          <p:cNvPr id="11" name="Text 9"/>
          <p:cNvSpPr/>
          <p:nvPr/>
        </p:nvSpPr>
        <p:spPr>
          <a:xfrm>
            <a:off x="4581144" y="2212848"/>
            <a:ext cx="3209544" cy="731520"/>
          </a:xfrm>
          <a:prstGeom prst="rect">
            <a:avLst/>
          </a:prstGeom>
          <a:noFill/>
          <a:ln/>
        </p:spPr>
        <p:txBody>
          <a:bodyPr wrap="square" lIns="0" tIns="0" rIns="0" bIns="0" rtlCol="0" anchor="t"/>
          <a:lstStyle/>
          <a:p>
            <a:pPr indent="0" marL="0">
              <a:buNone/>
            </a:pPr>
            <a:r>
              <a:rPr lang="en-US" sz="1200" dirty="0">
                <a:solidFill>
                  <a:srgbClr val="1B2733"/>
                </a:solidFill>
                <a:latin typeface="Calibri" pitchFamily="34" charset="0"/>
                <a:ea typeface="Calibri" pitchFamily="34" charset="-122"/>
                <a:cs typeface="Calibri" pitchFamily="34" charset="-120"/>
              </a:rPr>
              <a:t>One recipe feeds both the chart pane and the ggplot2 pane.</a:t>
            </a:r>
            <a:endParaRPr lang="en-US" sz="1200" dirty="0"/>
          </a:p>
        </p:txBody>
      </p:sp>
      <p:sp>
        <p:nvSpPr>
          <p:cNvPr id="12" name="Shape 10"/>
          <p:cNvSpPr/>
          <p:nvPr/>
        </p:nvSpPr>
        <p:spPr>
          <a:xfrm>
            <a:off x="8211312" y="1645920"/>
            <a:ext cx="3611880" cy="1417320"/>
          </a:xfrm>
          <a:prstGeom prst="roundRect">
            <a:avLst>
              <a:gd name="adj" fmla="val 3226"/>
            </a:avLst>
          </a:prstGeom>
          <a:solidFill>
            <a:srgbClr val="F3F5F8"/>
          </a:solidFill>
          <a:ln w="12700">
            <a:solidFill>
              <a:srgbClr val="F3F5F8"/>
            </a:solidFill>
            <a:prstDash val="solid"/>
          </a:ln>
        </p:spPr>
      </p:sp>
      <p:sp>
        <p:nvSpPr>
          <p:cNvPr id="13" name="Shape 11"/>
          <p:cNvSpPr/>
          <p:nvPr/>
        </p:nvSpPr>
        <p:spPr>
          <a:xfrm>
            <a:off x="8412480" y="1847088"/>
            <a:ext cx="219456" cy="219456"/>
          </a:xfrm>
          <a:prstGeom prst="roundRect">
            <a:avLst>
              <a:gd name="adj" fmla="val 25000"/>
            </a:avLst>
          </a:prstGeom>
          <a:solidFill>
            <a:srgbClr val="009E73"/>
          </a:solidFill>
          <a:ln w="12700">
            <a:solidFill>
              <a:srgbClr val="009E73"/>
            </a:solidFill>
            <a:prstDash val="solid"/>
          </a:ln>
        </p:spPr>
      </p:sp>
      <p:sp>
        <p:nvSpPr>
          <p:cNvPr id="14" name="Text 12"/>
          <p:cNvSpPr/>
          <p:nvPr/>
        </p:nvSpPr>
        <p:spPr>
          <a:xfrm>
            <a:off x="8723376" y="1810512"/>
            <a:ext cx="2898648" cy="310896"/>
          </a:xfrm>
          <a:prstGeom prst="rect">
            <a:avLst/>
          </a:prstGeom>
          <a:noFill/>
          <a:ln/>
        </p:spPr>
        <p:txBody>
          <a:bodyPr wrap="square" lIns="0" tIns="0" rIns="0" bIns="0" rtlCol="0" anchor="ctr"/>
          <a:lstStyle/>
          <a:p>
            <a:pPr indent="0" marL="0">
              <a:buNone/>
            </a:pPr>
            <a:r>
              <a:rPr lang="en-US" sz="1150" b="1" dirty="0">
                <a:solidFill>
                  <a:srgbClr val="16283C"/>
                </a:solidFill>
                <a:latin typeface="Courier New" pitchFamily="34" charset="0"/>
                <a:ea typeface="Courier New" pitchFamily="34" charset="-122"/>
                <a:cs typeface="Courier New" pitchFamily="34" charset="-120"/>
              </a:rPr>
              <a:t>R/tools.R</a:t>
            </a:r>
            <a:endParaRPr lang="en-US" sz="1150" dirty="0"/>
          </a:p>
        </p:txBody>
      </p:sp>
      <p:sp>
        <p:nvSpPr>
          <p:cNvPr id="15" name="Text 13"/>
          <p:cNvSpPr/>
          <p:nvPr/>
        </p:nvSpPr>
        <p:spPr>
          <a:xfrm>
            <a:off x="8412480" y="2212848"/>
            <a:ext cx="3209544" cy="731520"/>
          </a:xfrm>
          <a:prstGeom prst="rect">
            <a:avLst/>
          </a:prstGeom>
          <a:noFill/>
          <a:ln/>
        </p:spPr>
        <p:txBody>
          <a:bodyPr wrap="square" lIns="0" tIns="0" rIns="0" bIns="0" rtlCol="0" anchor="t"/>
          <a:lstStyle/>
          <a:p>
            <a:pPr indent="0" marL="0">
              <a:buNone/>
            </a:pPr>
            <a:r>
              <a:rPr lang="en-US" sz="1200" dirty="0">
                <a:solidFill>
                  <a:srgbClr val="1B2733"/>
                </a:solidFill>
                <a:latin typeface="Calibri" pitchFamily="34" charset="0"/>
                <a:ea typeface="Calibri" pitchFamily="34" charset="-122"/>
                <a:cs typeface="Calibri" pitchFamily="34" charset="-120"/>
              </a:rPr>
              <a:t>Typed tool schemas and the sticky style state.</a:t>
            </a:r>
            <a:endParaRPr lang="en-US" sz="1200" dirty="0"/>
          </a:p>
        </p:txBody>
      </p:sp>
      <p:sp>
        <p:nvSpPr>
          <p:cNvPr id="16" name="Shape 14"/>
          <p:cNvSpPr/>
          <p:nvPr/>
        </p:nvSpPr>
        <p:spPr>
          <a:xfrm>
            <a:off x="548640" y="3337560"/>
            <a:ext cx="3611880" cy="1417320"/>
          </a:xfrm>
          <a:prstGeom prst="roundRect">
            <a:avLst>
              <a:gd name="adj" fmla="val 3226"/>
            </a:avLst>
          </a:prstGeom>
          <a:solidFill>
            <a:srgbClr val="F3F5F8"/>
          </a:solidFill>
          <a:ln w="12700">
            <a:solidFill>
              <a:srgbClr val="F3F5F8"/>
            </a:solidFill>
            <a:prstDash val="solid"/>
          </a:ln>
        </p:spPr>
      </p:sp>
      <p:sp>
        <p:nvSpPr>
          <p:cNvPr id="17" name="Shape 15"/>
          <p:cNvSpPr/>
          <p:nvPr/>
        </p:nvSpPr>
        <p:spPr>
          <a:xfrm>
            <a:off x="749808" y="3538728"/>
            <a:ext cx="219456" cy="219456"/>
          </a:xfrm>
          <a:prstGeom prst="roundRect">
            <a:avLst>
              <a:gd name="adj" fmla="val 25000"/>
            </a:avLst>
          </a:prstGeom>
          <a:solidFill>
            <a:srgbClr val="56B4E9"/>
          </a:solidFill>
          <a:ln w="12700">
            <a:solidFill>
              <a:srgbClr val="56B4E9"/>
            </a:solidFill>
            <a:prstDash val="solid"/>
          </a:ln>
        </p:spPr>
      </p:sp>
      <p:sp>
        <p:nvSpPr>
          <p:cNvPr id="18" name="Text 16"/>
          <p:cNvSpPr/>
          <p:nvPr/>
        </p:nvSpPr>
        <p:spPr>
          <a:xfrm>
            <a:off x="1060704" y="3502152"/>
            <a:ext cx="2898648" cy="310896"/>
          </a:xfrm>
          <a:prstGeom prst="rect">
            <a:avLst/>
          </a:prstGeom>
          <a:noFill/>
          <a:ln/>
        </p:spPr>
        <p:txBody>
          <a:bodyPr wrap="square" lIns="0" tIns="0" rIns="0" bIns="0" rtlCol="0" anchor="ctr"/>
          <a:lstStyle/>
          <a:p>
            <a:pPr indent="0" marL="0">
              <a:buNone/>
            </a:pPr>
            <a:r>
              <a:rPr lang="en-US" sz="1150" b="1" dirty="0">
                <a:solidFill>
                  <a:srgbClr val="16283C"/>
                </a:solidFill>
                <a:latin typeface="Courier New" pitchFamily="34" charset="0"/>
                <a:ea typeface="Courier New" pitchFamily="34" charset="-122"/>
                <a:cs typeface="Courier New" pitchFamily="34" charset="-120"/>
              </a:rPr>
              <a:t>R/model-tidymodels.R</a:t>
            </a:r>
            <a:endParaRPr lang="en-US" sz="1150" dirty="0"/>
          </a:p>
        </p:txBody>
      </p:sp>
      <p:sp>
        <p:nvSpPr>
          <p:cNvPr id="19" name="Text 17"/>
          <p:cNvSpPr/>
          <p:nvPr/>
        </p:nvSpPr>
        <p:spPr>
          <a:xfrm>
            <a:off x="749808" y="3904488"/>
            <a:ext cx="3209544" cy="731520"/>
          </a:xfrm>
          <a:prstGeom prst="rect">
            <a:avLst/>
          </a:prstGeom>
          <a:noFill/>
          <a:ln/>
        </p:spPr>
        <p:txBody>
          <a:bodyPr wrap="square" lIns="0" tIns="0" rIns="0" bIns="0" rtlCol="0" anchor="t"/>
          <a:lstStyle/>
          <a:p>
            <a:pPr indent="0" marL="0">
              <a:buNone/>
            </a:pPr>
            <a:r>
              <a:rPr lang="en-US" sz="1200" dirty="0">
                <a:solidFill>
                  <a:srgbClr val="1B2733"/>
                </a:solidFill>
                <a:latin typeface="Calibri" pitchFamily="34" charset="0"/>
                <a:ea typeface="Calibri" pitchFamily="34" charset="-122"/>
                <a:cs typeface="Calibri" pitchFamily="34" charset="-120"/>
              </a:rPr>
              <a:t>parsnip, recipes, workflows, yardstick — fits and metrics.</a:t>
            </a:r>
            <a:endParaRPr lang="en-US" sz="1200" dirty="0"/>
          </a:p>
        </p:txBody>
      </p:sp>
      <p:sp>
        <p:nvSpPr>
          <p:cNvPr id="20" name="Shape 18"/>
          <p:cNvSpPr/>
          <p:nvPr/>
        </p:nvSpPr>
        <p:spPr>
          <a:xfrm>
            <a:off x="4379976" y="3337560"/>
            <a:ext cx="3611880" cy="1417320"/>
          </a:xfrm>
          <a:prstGeom prst="roundRect">
            <a:avLst>
              <a:gd name="adj" fmla="val 3226"/>
            </a:avLst>
          </a:prstGeom>
          <a:solidFill>
            <a:srgbClr val="F3F5F8"/>
          </a:solidFill>
          <a:ln w="12700">
            <a:solidFill>
              <a:srgbClr val="F3F5F8"/>
            </a:solidFill>
            <a:prstDash val="solid"/>
          </a:ln>
        </p:spPr>
      </p:sp>
      <p:sp>
        <p:nvSpPr>
          <p:cNvPr id="21" name="Shape 19"/>
          <p:cNvSpPr/>
          <p:nvPr/>
        </p:nvSpPr>
        <p:spPr>
          <a:xfrm>
            <a:off x="4581144" y="3538728"/>
            <a:ext cx="219456" cy="219456"/>
          </a:xfrm>
          <a:prstGeom prst="roundRect">
            <a:avLst>
              <a:gd name="adj" fmla="val 25000"/>
            </a:avLst>
          </a:prstGeom>
          <a:solidFill>
            <a:srgbClr val="E69F00"/>
          </a:solidFill>
          <a:ln w="12700">
            <a:solidFill>
              <a:srgbClr val="E69F00"/>
            </a:solidFill>
            <a:prstDash val="solid"/>
          </a:ln>
        </p:spPr>
      </p:sp>
      <p:sp>
        <p:nvSpPr>
          <p:cNvPr id="22" name="Text 20"/>
          <p:cNvSpPr/>
          <p:nvPr/>
        </p:nvSpPr>
        <p:spPr>
          <a:xfrm>
            <a:off x="4892040" y="3502152"/>
            <a:ext cx="2898648" cy="310896"/>
          </a:xfrm>
          <a:prstGeom prst="rect">
            <a:avLst/>
          </a:prstGeom>
          <a:noFill/>
          <a:ln/>
        </p:spPr>
        <p:txBody>
          <a:bodyPr wrap="square" lIns="0" tIns="0" rIns="0" bIns="0" rtlCol="0" anchor="ctr"/>
          <a:lstStyle/>
          <a:p>
            <a:pPr indent="0" marL="0">
              <a:buNone/>
            </a:pPr>
            <a:r>
              <a:rPr lang="en-US" sz="1150" b="1" dirty="0">
                <a:solidFill>
                  <a:srgbClr val="16283C"/>
                </a:solidFill>
                <a:latin typeface="Courier New" pitchFamily="34" charset="0"/>
                <a:ea typeface="Courier New" pitchFamily="34" charset="-122"/>
                <a:cs typeface="Courier New" pitchFamily="34" charset="-120"/>
              </a:rPr>
              <a:t>R/stats-test.R + unsupervised.R</a:t>
            </a:r>
            <a:endParaRPr lang="en-US" sz="1150" dirty="0"/>
          </a:p>
        </p:txBody>
      </p:sp>
      <p:sp>
        <p:nvSpPr>
          <p:cNvPr id="23" name="Text 21"/>
          <p:cNvSpPr/>
          <p:nvPr/>
        </p:nvSpPr>
        <p:spPr>
          <a:xfrm>
            <a:off x="4581144" y="3904488"/>
            <a:ext cx="3209544" cy="731520"/>
          </a:xfrm>
          <a:prstGeom prst="rect">
            <a:avLst/>
          </a:prstGeom>
          <a:noFill/>
          <a:ln/>
        </p:spPr>
        <p:txBody>
          <a:bodyPr wrap="square" lIns="0" tIns="0" rIns="0" bIns="0" rtlCol="0" anchor="t"/>
          <a:lstStyle/>
          <a:p>
            <a:pPr indent="0" marL="0">
              <a:buNone/>
            </a:pPr>
            <a:r>
              <a:rPr lang="en-US" sz="1200" dirty="0">
                <a:solidFill>
                  <a:srgbClr val="1B2733"/>
                </a:solidFill>
                <a:latin typeface="Calibri" pitchFamily="34" charset="0"/>
                <a:ea typeface="Calibri" pitchFamily="34" charset="-122"/>
                <a:cs typeface="Calibri" pitchFamily="34" charset="-120"/>
              </a:rPr>
              <a:t>t / ANOVA / chi-square / correlation; PCA, k-means, heatmap.</a:t>
            </a:r>
            <a:endParaRPr lang="en-US" sz="1200" dirty="0"/>
          </a:p>
        </p:txBody>
      </p:sp>
      <p:sp>
        <p:nvSpPr>
          <p:cNvPr id="24" name="Shape 22"/>
          <p:cNvSpPr/>
          <p:nvPr/>
        </p:nvSpPr>
        <p:spPr>
          <a:xfrm>
            <a:off x="8211312" y="3337560"/>
            <a:ext cx="3611880" cy="1417320"/>
          </a:xfrm>
          <a:prstGeom prst="roundRect">
            <a:avLst>
              <a:gd name="adj" fmla="val 3226"/>
            </a:avLst>
          </a:prstGeom>
          <a:solidFill>
            <a:srgbClr val="F3F5F8"/>
          </a:solidFill>
          <a:ln w="12700">
            <a:solidFill>
              <a:srgbClr val="F3F5F8"/>
            </a:solidFill>
            <a:prstDash val="solid"/>
          </a:ln>
        </p:spPr>
      </p:sp>
      <p:sp>
        <p:nvSpPr>
          <p:cNvPr id="25" name="Shape 23"/>
          <p:cNvSpPr/>
          <p:nvPr/>
        </p:nvSpPr>
        <p:spPr>
          <a:xfrm>
            <a:off x="8412480" y="3538728"/>
            <a:ext cx="219456" cy="219456"/>
          </a:xfrm>
          <a:prstGeom prst="roundRect">
            <a:avLst>
              <a:gd name="adj" fmla="val 25000"/>
            </a:avLst>
          </a:prstGeom>
          <a:solidFill>
            <a:srgbClr val="0072B2"/>
          </a:solidFill>
          <a:ln w="12700">
            <a:solidFill>
              <a:srgbClr val="0072B2"/>
            </a:solidFill>
            <a:prstDash val="solid"/>
          </a:ln>
        </p:spPr>
      </p:sp>
      <p:sp>
        <p:nvSpPr>
          <p:cNvPr id="26" name="Text 24"/>
          <p:cNvSpPr/>
          <p:nvPr/>
        </p:nvSpPr>
        <p:spPr>
          <a:xfrm>
            <a:off x="8723376" y="3502152"/>
            <a:ext cx="2898648" cy="310896"/>
          </a:xfrm>
          <a:prstGeom prst="rect">
            <a:avLst/>
          </a:prstGeom>
          <a:noFill/>
          <a:ln/>
        </p:spPr>
        <p:txBody>
          <a:bodyPr wrap="square" lIns="0" tIns="0" rIns="0" bIns="0" rtlCol="0" anchor="ctr"/>
          <a:lstStyle/>
          <a:p>
            <a:pPr indent="0" marL="0">
              <a:buNone/>
            </a:pPr>
            <a:r>
              <a:rPr lang="en-US" sz="1150" b="1" dirty="0">
                <a:solidFill>
                  <a:srgbClr val="16283C"/>
                </a:solidFill>
                <a:latin typeface="Courier New" pitchFamily="34" charset="0"/>
                <a:ea typeface="Courier New" pitchFamily="34" charset="-122"/>
                <a:cs typeface="Courier New" pitchFamily="34" charset="-120"/>
              </a:rPr>
              <a:t>tests/testthat/</a:t>
            </a:r>
            <a:endParaRPr lang="en-US" sz="1150" dirty="0"/>
          </a:p>
        </p:txBody>
      </p:sp>
      <p:sp>
        <p:nvSpPr>
          <p:cNvPr id="27" name="Text 25"/>
          <p:cNvSpPr/>
          <p:nvPr/>
        </p:nvSpPr>
        <p:spPr>
          <a:xfrm>
            <a:off x="8412480" y="3904488"/>
            <a:ext cx="3209544" cy="731520"/>
          </a:xfrm>
          <a:prstGeom prst="rect">
            <a:avLst/>
          </a:prstGeom>
          <a:noFill/>
          <a:ln/>
        </p:spPr>
        <p:txBody>
          <a:bodyPr wrap="square" lIns="0" tIns="0" rIns="0" bIns="0" rtlCol="0" anchor="t"/>
          <a:lstStyle/>
          <a:p>
            <a:pPr indent="0" marL="0">
              <a:buNone/>
            </a:pPr>
            <a:r>
              <a:rPr lang="en-US" sz="1200" dirty="0">
                <a:solidFill>
                  <a:srgbClr val="1B2733"/>
                </a:solidFill>
                <a:latin typeface="Calibri" pitchFamily="34" charset="0"/>
                <a:ea typeface="Calibri" pitchFamily="34" charset="-122"/>
                <a:cs typeface="Calibri" pitchFamily="34" charset="-120"/>
              </a:rPr>
              <a:t>12 test files: characterization and agreement tests over the tools.</a:t>
            </a:r>
            <a:endParaRPr lang="en-US" sz="1200" dirty="0"/>
          </a:p>
        </p:txBody>
      </p:sp>
      <p:sp>
        <p:nvSpPr>
          <p:cNvPr id="28" name="Shape 26"/>
          <p:cNvSpPr/>
          <p:nvPr/>
        </p:nvSpPr>
        <p:spPr>
          <a:xfrm>
            <a:off x="548640" y="5029200"/>
            <a:ext cx="11091672" cy="1143000"/>
          </a:xfrm>
          <a:prstGeom prst="roundRect">
            <a:avLst>
              <a:gd name="adj" fmla="val 4000"/>
            </a:avLst>
          </a:prstGeom>
          <a:solidFill>
            <a:srgbClr val="16283C"/>
          </a:solidFill>
          <a:ln w="12700">
            <a:solidFill>
              <a:srgbClr val="16283C"/>
            </a:solidFill>
            <a:prstDash val="solid"/>
          </a:ln>
        </p:spPr>
      </p:sp>
      <p:sp>
        <p:nvSpPr>
          <p:cNvPr id="29" name="Text 27"/>
          <p:cNvSpPr/>
          <p:nvPr/>
        </p:nvSpPr>
        <p:spPr>
          <a:xfrm>
            <a:off x="822960" y="5175504"/>
            <a:ext cx="10561320" cy="868680"/>
          </a:xfrm>
          <a:prstGeom prst="rect">
            <a:avLst/>
          </a:prstGeom>
          <a:noFill/>
          <a:ln/>
        </p:spPr>
        <p:txBody>
          <a:bodyPr wrap="square" lIns="0" tIns="0" rIns="0" bIns="0" rtlCol="0" anchor="ctr"/>
          <a:lstStyle/>
          <a:p>
            <a:pPr indent="0" marL="0">
              <a:buNone/>
            </a:pPr>
            <a:r>
              <a:rPr lang="en-US" sz="1300" b="1" dirty="0">
                <a:solidFill>
                  <a:srgbClr val="E69F00"/>
                </a:solidFill>
                <a:latin typeface="Calibri" pitchFamily="34" charset="0"/>
                <a:ea typeface="Calibri" pitchFamily="34" charset="-122"/>
                <a:cs typeface="Calibri" pitchFamily="34" charset="-120"/>
              </a:rPr>
              <a:t>Provider is a sidebar setting.  </a:t>
            </a:r>
            <a:pPr indent="0" marL="0">
              <a:buNone/>
            </a:pPr>
            <a:r>
              <a:rPr lang="en-US" sz="1300" dirty="0">
                <a:solidFill>
                  <a:srgbClr val="FFFFFF"/>
                </a:solidFill>
                <a:latin typeface="Calibri" pitchFamily="34" charset="0"/>
                <a:ea typeface="Calibri" pitchFamily="34" charset="-122"/>
                <a:cs typeface="Calibri" pitchFamily="34" charset="-120"/>
              </a:rPr>
              <a:t>This demo ran on Claude Haiku 4.5 through the Anthropic API; xAI's Grok is one radio button away. It bills the API, not a Claude.ai or grok.com subscription.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283C"/>
        </a:solidFill>
      </p:bgPr>
    </p:bg>
    <p:spTree>
      <p:nvGrpSpPr>
        <p:cNvPr id="1" name=""/>
        <p:cNvGrpSpPr/>
        <p:nvPr/>
      </p:nvGrpSpPr>
      <p:grpSpPr>
        <a:xfrm>
          <a:off x="0" y="0"/>
          <a:ext cx="0" cy="0"/>
          <a:chOff x="0" y="0"/>
          <a:chExt cx="0" cy="0"/>
        </a:xfrm>
      </p:grpSpPr>
      <p:sp>
        <p:nvSpPr>
          <p:cNvPr id="2" name="Text 0"/>
          <p:cNvSpPr/>
          <p:nvPr/>
        </p:nvSpPr>
        <p:spPr>
          <a:xfrm>
            <a:off x="640080" y="640080"/>
            <a:ext cx="1088136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Run it yourself in about five minutes</a:t>
            </a:r>
            <a:endParaRPr lang="en-US" sz="3200" dirty="0"/>
          </a:p>
        </p:txBody>
      </p:sp>
      <p:sp>
        <p:nvSpPr>
          <p:cNvPr id="3" name="Shape 1"/>
          <p:cNvSpPr/>
          <p:nvPr/>
        </p:nvSpPr>
        <p:spPr>
          <a:xfrm>
            <a:off x="640080" y="1600200"/>
            <a:ext cx="6675120" cy="1207008"/>
          </a:xfrm>
          <a:prstGeom prst="roundRect">
            <a:avLst>
              <a:gd name="adj" fmla="val 3788"/>
            </a:avLst>
          </a:prstGeom>
          <a:solidFill>
            <a:srgbClr val="27405C"/>
          </a:solidFill>
          <a:ln w="12700">
            <a:solidFill>
              <a:srgbClr val="27405C"/>
            </a:solidFill>
            <a:prstDash val="solid"/>
          </a:ln>
        </p:spPr>
      </p:sp>
      <p:sp>
        <p:nvSpPr>
          <p:cNvPr id="4" name="Shape 2"/>
          <p:cNvSpPr/>
          <p:nvPr/>
        </p:nvSpPr>
        <p:spPr>
          <a:xfrm>
            <a:off x="868680" y="1911096"/>
            <a:ext cx="566928" cy="566928"/>
          </a:xfrm>
          <a:prstGeom prst="roundRect">
            <a:avLst>
              <a:gd name="adj" fmla="val 22581"/>
            </a:avLst>
          </a:prstGeom>
          <a:solidFill>
            <a:srgbClr val="E69F00"/>
          </a:solidFill>
          <a:ln w="12700">
            <a:solidFill>
              <a:srgbClr val="E69F00"/>
            </a:solidFill>
            <a:prstDash val="solid"/>
          </a:ln>
        </p:spPr>
      </p:sp>
      <p:sp>
        <p:nvSpPr>
          <p:cNvPr id="5" name="Text 3"/>
          <p:cNvSpPr/>
          <p:nvPr/>
        </p:nvSpPr>
        <p:spPr>
          <a:xfrm>
            <a:off x="868680" y="1911096"/>
            <a:ext cx="566928" cy="566928"/>
          </a:xfrm>
          <a:prstGeom prst="rect">
            <a:avLst/>
          </a:prstGeom>
          <a:noFill/>
          <a:ln/>
        </p:spPr>
        <p:txBody>
          <a:bodyPr wrap="square" lIns="0" tIns="0" rIns="0" bIns="0" rtlCol="0" anchor="ctr"/>
          <a:lstStyle/>
          <a:p>
            <a:pPr algn="ctr" indent="0" marL="0">
              <a:buNone/>
            </a:pPr>
            <a:r>
              <a:rPr lang="en-US" sz="1500" b="1" dirty="0">
                <a:solidFill>
                  <a:srgbClr val="16283C"/>
                </a:solidFill>
                <a:latin typeface="Courier New" pitchFamily="34" charset="0"/>
                <a:ea typeface="Courier New" pitchFamily="34" charset="-122"/>
                <a:cs typeface="Courier New" pitchFamily="34" charset="-120"/>
              </a:rPr>
              <a:t>1</a:t>
            </a:r>
            <a:endParaRPr lang="en-US" sz="1500" dirty="0"/>
          </a:p>
        </p:txBody>
      </p:sp>
      <p:sp>
        <p:nvSpPr>
          <p:cNvPr id="6" name="Text 4"/>
          <p:cNvSpPr/>
          <p:nvPr/>
        </p:nvSpPr>
        <p:spPr>
          <a:xfrm>
            <a:off x="1627632" y="1801368"/>
            <a:ext cx="548640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Put a few dollars on an API key</a:t>
            </a:r>
            <a:endParaRPr lang="en-US" sz="1500" dirty="0"/>
          </a:p>
        </p:txBody>
      </p:sp>
      <p:sp>
        <p:nvSpPr>
          <p:cNvPr id="7" name="Text 5"/>
          <p:cNvSpPr/>
          <p:nvPr/>
        </p:nvSpPr>
        <p:spPr>
          <a:xfrm>
            <a:off x="1627632" y="2148840"/>
            <a:ext cx="5486400" cy="548640"/>
          </a:xfrm>
          <a:prstGeom prst="rect">
            <a:avLst/>
          </a:prstGeom>
          <a:noFill/>
          <a:ln/>
        </p:spPr>
        <p:txBody>
          <a:bodyPr wrap="square" lIns="0" tIns="0" rIns="0" bIns="0" rtlCol="0" anchor="t"/>
          <a:lstStyle/>
          <a:p>
            <a:pPr indent="0" marL="0">
              <a:buNone/>
            </a:pPr>
            <a:r>
              <a:rPr lang="en-US" sz="1200" dirty="0">
                <a:solidFill>
                  <a:srgbClr val="A9BDD1"/>
                </a:solidFill>
                <a:latin typeface="Calibri" pitchFamily="34" charset="0"/>
                <a:ea typeface="Calibri" pitchFamily="34" charset="-122"/>
                <a:cs typeface="Calibri" pitchFamily="34" charset="-120"/>
              </a:rPr>
              <a:t>console.x.ai or platform.claude.com. $5 is plenty for a whole class.</a:t>
            </a:r>
            <a:endParaRPr lang="en-US" sz="1200" dirty="0"/>
          </a:p>
        </p:txBody>
      </p:sp>
      <p:sp>
        <p:nvSpPr>
          <p:cNvPr id="8" name="Shape 6"/>
          <p:cNvSpPr/>
          <p:nvPr/>
        </p:nvSpPr>
        <p:spPr>
          <a:xfrm>
            <a:off x="640080" y="2953512"/>
            <a:ext cx="6675120" cy="1207008"/>
          </a:xfrm>
          <a:prstGeom prst="roundRect">
            <a:avLst>
              <a:gd name="adj" fmla="val 3788"/>
            </a:avLst>
          </a:prstGeom>
          <a:solidFill>
            <a:srgbClr val="27405C"/>
          </a:solidFill>
          <a:ln w="12700">
            <a:solidFill>
              <a:srgbClr val="27405C"/>
            </a:solidFill>
            <a:prstDash val="solid"/>
          </a:ln>
        </p:spPr>
      </p:sp>
      <p:sp>
        <p:nvSpPr>
          <p:cNvPr id="9" name="Shape 7"/>
          <p:cNvSpPr/>
          <p:nvPr/>
        </p:nvSpPr>
        <p:spPr>
          <a:xfrm>
            <a:off x="868680" y="3264408"/>
            <a:ext cx="566928" cy="566928"/>
          </a:xfrm>
          <a:prstGeom prst="roundRect">
            <a:avLst>
              <a:gd name="adj" fmla="val 22581"/>
            </a:avLst>
          </a:prstGeom>
          <a:solidFill>
            <a:srgbClr val="E69F00"/>
          </a:solidFill>
          <a:ln w="12700">
            <a:solidFill>
              <a:srgbClr val="E69F00"/>
            </a:solidFill>
            <a:prstDash val="solid"/>
          </a:ln>
        </p:spPr>
      </p:sp>
      <p:sp>
        <p:nvSpPr>
          <p:cNvPr id="10" name="Text 8"/>
          <p:cNvSpPr/>
          <p:nvPr/>
        </p:nvSpPr>
        <p:spPr>
          <a:xfrm>
            <a:off x="868680" y="3264408"/>
            <a:ext cx="566928" cy="566928"/>
          </a:xfrm>
          <a:prstGeom prst="rect">
            <a:avLst/>
          </a:prstGeom>
          <a:noFill/>
          <a:ln/>
        </p:spPr>
        <p:txBody>
          <a:bodyPr wrap="square" lIns="0" tIns="0" rIns="0" bIns="0" rtlCol="0" anchor="ctr"/>
          <a:lstStyle/>
          <a:p>
            <a:pPr algn="ctr" indent="0" marL="0">
              <a:buNone/>
            </a:pPr>
            <a:r>
              <a:rPr lang="en-US" sz="1500" b="1" dirty="0">
                <a:solidFill>
                  <a:srgbClr val="16283C"/>
                </a:solidFill>
                <a:latin typeface="Courier New" pitchFamily="34" charset="0"/>
                <a:ea typeface="Courier New" pitchFamily="34" charset="-122"/>
                <a:cs typeface="Courier New" pitchFamily="34" charset="-120"/>
              </a:rPr>
              <a:t>2</a:t>
            </a:r>
            <a:endParaRPr lang="en-US" sz="1500" dirty="0"/>
          </a:p>
        </p:txBody>
      </p:sp>
      <p:sp>
        <p:nvSpPr>
          <p:cNvPr id="11" name="Text 9"/>
          <p:cNvSpPr/>
          <p:nvPr/>
        </p:nvSpPr>
        <p:spPr>
          <a:xfrm>
            <a:off x="1627632" y="3154680"/>
            <a:ext cx="548640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Add the key to .Renviron</a:t>
            </a:r>
            <a:endParaRPr lang="en-US" sz="1500" dirty="0"/>
          </a:p>
        </p:txBody>
      </p:sp>
      <p:sp>
        <p:nvSpPr>
          <p:cNvPr id="12" name="Text 10"/>
          <p:cNvSpPr/>
          <p:nvPr/>
        </p:nvSpPr>
        <p:spPr>
          <a:xfrm>
            <a:off x="1627632" y="3502152"/>
            <a:ext cx="5486400" cy="548640"/>
          </a:xfrm>
          <a:prstGeom prst="rect">
            <a:avLst/>
          </a:prstGeom>
          <a:noFill/>
          <a:ln/>
        </p:spPr>
        <p:txBody>
          <a:bodyPr wrap="square" lIns="0" tIns="0" rIns="0" bIns="0" rtlCol="0" anchor="t"/>
          <a:lstStyle/>
          <a:p>
            <a:pPr indent="0" marL="0">
              <a:buNone/>
            </a:pPr>
            <a:r>
              <a:rPr lang="en-US" sz="1200" dirty="0">
                <a:solidFill>
                  <a:srgbClr val="A9BDD1"/>
                </a:solidFill>
                <a:latin typeface="Calibri" pitchFamily="34" charset="0"/>
                <a:ea typeface="Calibri" pitchFamily="34" charset="-122"/>
                <a:cs typeface="Calibri" pitchFamily="34" charset="-120"/>
              </a:rPr>
              <a:t>usethis::edit_r_environ(), paste ANTHROPIC_API_KEY or XAI_API_KEY, restart R.</a:t>
            </a:r>
            <a:endParaRPr lang="en-US" sz="1200" dirty="0"/>
          </a:p>
        </p:txBody>
      </p:sp>
      <p:sp>
        <p:nvSpPr>
          <p:cNvPr id="13" name="Shape 11"/>
          <p:cNvSpPr/>
          <p:nvPr/>
        </p:nvSpPr>
        <p:spPr>
          <a:xfrm>
            <a:off x="640080" y="4306824"/>
            <a:ext cx="6675120" cy="1207008"/>
          </a:xfrm>
          <a:prstGeom prst="roundRect">
            <a:avLst>
              <a:gd name="adj" fmla="val 3788"/>
            </a:avLst>
          </a:prstGeom>
          <a:solidFill>
            <a:srgbClr val="27405C"/>
          </a:solidFill>
          <a:ln w="12700">
            <a:solidFill>
              <a:srgbClr val="27405C"/>
            </a:solidFill>
            <a:prstDash val="solid"/>
          </a:ln>
        </p:spPr>
      </p:sp>
      <p:sp>
        <p:nvSpPr>
          <p:cNvPr id="14" name="Shape 12"/>
          <p:cNvSpPr/>
          <p:nvPr/>
        </p:nvSpPr>
        <p:spPr>
          <a:xfrm>
            <a:off x="868680" y="4617720"/>
            <a:ext cx="566928" cy="566928"/>
          </a:xfrm>
          <a:prstGeom prst="roundRect">
            <a:avLst>
              <a:gd name="adj" fmla="val 22581"/>
            </a:avLst>
          </a:prstGeom>
          <a:solidFill>
            <a:srgbClr val="E69F00"/>
          </a:solidFill>
          <a:ln w="12700">
            <a:solidFill>
              <a:srgbClr val="E69F00"/>
            </a:solidFill>
            <a:prstDash val="solid"/>
          </a:ln>
        </p:spPr>
      </p:sp>
      <p:sp>
        <p:nvSpPr>
          <p:cNvPr id="15" name="Text 13"/>
          <p:cNvSpPr/>
          <p:nvPr/>
        </p:nvSpPr>
        <p:spPr>
          <a:xfrm>
            <a:off x="868680" y="4617720"/>
            <a:ext cx="566928" cy="566928"/>
          </a:xfrm>
          <a:prstGeom prst="rect">
            <a:avLst/>
          </a:prstGeom>
          <a:noFill/>
          <a:ln/>
        </p:spPr>
        <p:txBody>
          <a:bodyPr wrap="square" lIns="0" tIns="0" rIns="0" bIns="0" rtlCol="0" anchor="ctr"/>
          <a:lstStyle/>
          <a:p>
            <a:pPr algn="ctr" indent="0" marL="0">
              <a:buNone/>
            </a:pPr>
            <a:r>
              <a:rPr lang="en-US" sz="1500" b="1" dirty="0">
                <a:solidFill>
                  <a:srgbClr val="16283C"/>
                </a:solidFill>
                <a:latin typeface="Courier New" pitchFamily="34" charset="0"/>
                <a:ea typeface="Courier New" pitchFamily="34" charset="-122"/>
                <a:cs typeface="Courier New" pitchFamily="34" charset="-120"/>
              </a:rPr>
              <a:t>3</a:t>
            </a:r>
            <a:endParaRPr lang="en-US" sz="1500" dirty="0"/>
          </a:p>
        </p:txBody>
      </p:sp>
      <p:sp>
        <p:nvSpPr>
          <p:cNvPr id="16" name="Text 14"/>
          <p:cNvSpPr/>
          <p:nvPr/>
        </p:nvSpPr>
        <p:spPr>
          <a:xfrm>
            <a:off x="1627632" y="4507992"/>
            <a:ext cx="548640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Install and launch</a:t>
            </a:r>
            <a:endParaRPr lang="en-US" sz="1500" dirty="0"/>
          </a:p>
        </p:txBody>
      </p:sp>
      <p:sp>
        <p:nvSpPr>
          <p:cNvPr id="17" name="Text 15"/>
          <p:cNvSpPr/>
          <p:nvPr/>
        </p:nvSpPr>
        <p:spPr>
          <a:xfrm>
            <a:off x="1627632" y="4855464"/>
            <a:ext cx="5486400" cy="548640"/>
          </a:xfrm>
          <a:prstGeom prst="rect">
            <a:avLst/>
          </a:prstGeom>
          <a:noFill/>
          <a:ln/>
        </p:spPr>
        <p:txBody>
          <a:bodyPr wrap="square" lIns="0" tIns="0" rIns="0" bIns="0" rtlCol="0" anchor="t"/>
          <a:lstStyle/>
          <a:p>
            <a:pPr indent="0" marL="0">
              <a:buNone/>
            </a:pPr>
            <a:r>
              <a:rPr lang="en-US" sz="1200" dirty="0">
                <a:solidFill>
                  <a:srgbClr val="A9BDD1"/>
                </a:solidFill>
                <a:latin typeface="Calibri" pitchFamily="34" charset="0"/>
                <a:ea typeface="Calibri" pitchFamily="34" charset="-122"/>
                <a:cs typeface="Calibri" pitchFamily="34" charset="-120"/>
              </a:rPr>
              <a:t>source("setup.R") then shiny::runApp() from the project folder.</a:t>
            </a:r>
            <a:endParaRPr lang="en-US" sz="1200" dirty="0"/>
          </a:p>
        </p:txBody>
      </p:sp>
      <p:pic>
        <p:nvPicPr>
          <p:cNvPr id="18" name="Image 0" descr="/home/claude/deck/img/s1_chat.jpg">    </p:cNvPr>
          <p:cNvPicPr>
            <a:picLocks noChangeAspect="1"/>
          </p:cNvPicPr>
          <p:nvPr/>
        </p:nvPicPr>
        <p:blipFill>
          <a:blip r:embed="rId1"/>
          <a:stretch>
            <a:fillRect/>
          </a:stretch>
        </p:blipFill>
        <p:spPr>
          <a:xfrm>
            <a:off x="8229600" y="1920240"/>
            <a:ext cx="3200400" cy="3099816"/>
          </a:xfrm>
          <a:prstGeom prst="rect">
            <a:avLst/>
          </a:prstGeom>
          <a:effectLst>
            <a:outerShdw sx="100000" sy="100000" kx="0" ky="0" algn="bl" rotWithShape="0" blurRad="177800" dist="38100" dir="5400000">
              <a:srgbClr val="000000">
                <a:alpha val="20000"/>
              </a:srgbClr>
            </a:outerShdw>
          </a:effectLst>
        </p:spPr>
      </p:pic>
      <p:sp>
        <p:nvSpPr>
          <p:cNvPr id="19" name="Shape 16"/>
          <p:cNvSpPr/>
          <p:nvPr/>
        </p:nvSpPr>
        <p:spPr>
          <a:xfrm>
            <a:off x="640080" y="5715000"/>
            <a:ext cx="10927080" cy="777240"/>
          </a:xfrm>
          <a:prstGeom prst="roundRect">
            <a:avLst>
              <a:gd name="adj" fmla="val 5882"/>
            </a:avLst>
          </a:prstGeom>
          <a:solidFill>
            <a:srgbClr val="27405C"/>
          </a:solidFill>
          <a:ln w="12700">
            <a:solidFill>
              <a:srgbClr val="27405C"/>
            </a:solidFill>
            <a:prstDash val="solid"/>
          </a:ln>
        </p:spPr>
      </p:sp>
      <p:sp>
        <p:nvSpPr>
          <p:cNvPr id="20" name="Text 17"/>
          <p:cNvSpPr/>
          <p:nvPr/>
        </p:nvSpPr>
        <p:spPr>
          <a:xfrm>
            <a:off x="914400" y="5806440"/>
            <a:ext cx="10424160" cy="594360"/>
          </a:xfrm>
          <a:prstGeom prst="rect">
            <a:avLst/>
          </a:prstGeom>
          <a:noFill/>
          <a:ln/>
        </p:spPr>
        <p:txBody>
          <a:bodyPr wrap="square" lIns="0" tIns="0" rIns="0" bIns="0" rtlCol="0" anchor="ctr"/>
          <a:lstStyle/>
          <a:p>
            <a:pPr indent="0" marL="0">
              <a:buNone/>
            </a:pPr>
            <a:r>
              <a:rPr lang="en-US" sz="1300" b="1" dirty="0">
                <a:solidFill>
                  <a:srgbClr val="E69F00"/>
                </a:solidFill>
                <a:latin typeface="Calibri" pitchFamily="34" charset="0"/>
                <a:ea typeface="Calibri" pitchFamily="34" charset="-122"/>
                <a:cs typeface="Calibri" pitchFamily="34" charset="-120"/>
              </a:rPr>
              <a:t>Two things to know:  </a:t>
            </a:r>
            <a:pPr indent="0" marL="0">
              <a:buNone/>
            </a:pPr>
            <a:r>
              <a:rPr lang="en-US" sz="1300" dirty="0">
                <a:solidFill>
                  <a:srgbClr val="FFFFFF"/>
                </a:solidFill>
                <a:latin typeface="Calibri" pitchFamily="34" charset="0"/>
                <a:ea typeface="Calibri" pitchFamily="34" charset="-122"/>
                <a:cs typeface="Calibri" pitchFamily="34" charset="-120"/>
              </a:rPr>
              <a:t>it is one browser session — a second tab overwrites the first tab's table — and every fit is a preview, not a pipeline you should ship.</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ellmer-practice — demo walkthrough</dc:title>
  <dc:subject>PptxGenJS Presentation</dc:subject>
  <dc:creator>Ethan Bard</dc:creator>
  <cp:lastModifiedBy>Ethan Bard</cp:lastModifiedBy>
  <cp:revision>1</cp:revision>
  <dcterms:created xsi:type="dcterms:W3CDTF">2026-08-17T03:25:34Z</dcterms:created>
  <dcterms:modified xsi:type="dcterms:W3CDTF">2026-08-17T03:25:34Z</dcterms:modified>
</cp:coreProperties>
</file>